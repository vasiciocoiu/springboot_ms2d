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_rels/theme1.xml.rels" ContentType="application/vnd.openxmlformats-package.relationships+xml"/>
  <Override PartName="/ppt/theme/_rels/theme2.xml.rels" ContentType="application/vnd.openxmlformats-package.relationships+xml"/>
  <Override PartName="/ppt/theme/theme23.xml" ContentType="application/vnd.openxmlformats-officedocument.theme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Budget SAP30/CMRL à fin </a:t>
            </a: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Septembre</a:t>
            </a: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 2021</a:t>
            </a:r>
          </a:p>
        </c:rich>
      </c:tx>
      <c:layout>
        <c:manualLayout>
          <c:xMode val="edge"/>
          <c:yMode val="edge"/>
          <c:x val="0.217601204712552"/>
          <c:y val="0.131257587659787"/>
        </c:manualLayout>
      </c:layout>
      <c:overlay val="0"/>
      <c:spPr>
        <a:noFill/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71051466028878"/>
          <c:y val="0.247446975648075"/>
          <c:w val="0.745770218797059"/>
          <c:h val="0.5994429765050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nov-24</c:v>
                </c:pt>
              </c:strCache>
            </c:strRef>
          </c:tx>
          <c:spPr>
            <a:solidFill>
              <a:srgbClr val="a9d18e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1"/>
            <c:invertIfNegative val="0"/>
            <c:spPr>
              <a:gradFill>
                <a:gsLst>
                  <a:gs pos="0">
                    <a:srgbClr val="637e51"/>
                  </a:gs>
                  <a:gs pos="50000">
                    <a:srgbClr val="8db473"/>
                  </a:gs>
                  <a:gs pos="100000">
                    <a:srgbClr val="a7d588"/>
                  </a:gs>
                </a:gsLst>
                <a:lin ang="0"/>
              </a:gradFill>
              <a:ln w="0">
                <a:noFill/>
              </a:ln>
            </c:spPr>
          </c:dPt>
          <c:dPt>
            <c:idx val="2"/>
            <c:invertIfNegative val="0"/>
            <c:spPr>
              <a:gradFill>
                <a:gsLst>
                  <a:gs pos="0">
                    <a:srgbClr val="637e51"/>
                  </a:gs>
                  <a:gs pos="50000">
                    <a:srgbClr val="8db473"/>
                  </a:gs>
                  <a:gs pos="100000">
                    <a:srgbClr val="a7d588"/>
                  </a:gs>
                </a:gsLst>
                <a:lin ang="5400000"/>
              </a:gradFill>
              <a:ln w="0">
                <a:noFill/>
              </a:ln>
            </c:spPr>
          </c:dPt>
          <c:dLbls>
            <c:numFmt formatCode="General" sourceLinked="0"/>
            <c:dLbl>
              <c:idx val="0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52000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26000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26000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197" strike="noStrike" u="none">
                    <a:solidFill>
                      <a:srgbClr val="40404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Total</c:v>
                </c:pt>
                <c:pt idx="1">
                  <c:v>Réel</c:v>
                </c:pt>
                <c:pt idx="2">
                  <c:v>Planifié à cette date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52000</c:v>
                </c:pt>
                <c:pt idx="1">
                  <c:v>26000</c:v>
                </c:pt>
                <c:pt idx="2">
                  <c:v>26000</c:v>
                </c:pt>
              </c:numCache>
            </c:numRef>
          </c:val>
        </c:ser>
        <c:gapWidth val="170"/>
        <c:overlap val="0"/>
        <c:axId val="71980219"/>
        <c:axId val="91644001"/>
      </c:barChart>
      <c:catAx>
        <c:axId val="7198021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91644001"/>
        <c:crosses val="autoZero"/>
        <c:auto val="1"/>
        <c:lblAlgn val="ctr"/>
        <c:lblOffset val="100"/>
        <c:noMultiLvlLbl val="0"/>
      </c:catAx>
      <c:valAx>
        <c:axId val="9164400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7198021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97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A7AA48-EB8C-4AF7-8412-422B2778D5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43AC4EA-E59D-4075-8A5C-F8752B43D417}">
      <dgm:prSet phldrT="[Texte]" custT="1"/>
      <dgm:spPr>
        <a:solidFill>
          <a:schemeClr val="accent4"/>
        </a:solidFill>
      </dgm:spPr>
      <dgm:t>
        <a:bodyPr/>
        <a:lstStyle/>
        <a:p>
          <a:r>
            <a:rPr lang="fr-FR" sz="2000" dirty="0">
              <a:latin typeface="Candara" panose="020E0502030303020204" pitchFamily="34" charset="0"/>
            </a:rPr>
            <a:t>Décision 1</a:t>
          </a:r>
        </a:p>
      </dgm:t>
    </dgm:pt>
    <dgm:pt modelId="{5D7B530C-F80F-4323-9F8A-9F5CF826B180}" type="parTrans" cxnId="{6CD61F77-F0AE-42A3-BFB2-C3EDB4333E62}">
      <dgm:prSet/>
      <dgm:spPr/>
      <dgm:t>
        <a:bodyPr/>
        <a:lstStyle/>
        <a:p>
          <a:endParaRPr lang="fr-FR"/>
        </a:p>
      </dgm:t>
    </dgm:pt>
    <dgm:pt modelId="{8986592B-10E5-4262-8121-DAC13942CCFD}" type="sibTrans" cxnId="{6CD61F77-F0AE-42A3-BFB2-C3EDB4333E62}">
      <dgm:prSet/>
      <dgm:spPr/>
      <dgm:t>
        <a:bodyPr/>
        <a:lstStyle/>
        <a:p>
          <a:endParaRPr lang="fr-FR"/>
        </a:p>
      </dgm:t>
    </dgm:pt>
    <dgm:pt modelId="{6450055F-C20A-4B0E-8702-4034EF98DB43}">
      <dgm:prSet phldrT="[Texte]" custT="1"/>
      <dgm:spPr/>
      <dgm:t>
        <a:bodyPr/>
        <a:lstStyle/>
        <a:p>
          <a:r>
            <a:rPr lang="fr-FR" sz="1800" dirty="0"/>
            <a:t>Besoin de ressources supplémentaires pour L’achat des matériaux</a:t>
          </a:r>
          <a:endParaRPr lang="fr-FR" sz="1800" dirty="0">
            <a:latin typeface="Candara" panose="020E0502030303020204" pitchFamily="34" charset="0"/>
          </a:endParaRPr>
        </a:p>
      </dgm:t>
    </dgm:pt>
    <dgm:pt modelId="{5BC32DFF-CAE1-4703-9A7B-DC1C36FD39DB}" type="parTrans" cxnId="{E1BA01F6-4A48-48D1-9B96-E57A23FBAB62}">
      <dgm:prSet/>
      <dgm:spPr/>
      <dgm:t>
        <a:bodyPr/>
        <a:lstStyle/>
        <a:p>
          <a:endParaRPr lang="fr-FR"/>
        </a:p>
      </dgm:t>
    </dgm:pt>
    <dgm:pt modelId="{348822F2-AAD6-4B10-A3F0-1AB310C29064}" type="sibTrans" cxnId="{E1BA01F6-4A48-48D1-9B96-E57A23FBAB62}">
      <dgm:prSet/>
      <dgm:spPr/>
      <dgm:t>
        <a:bodyPr/>
        <a:lstStyle/>
        <a:p>
          <a:endParaRPr lang="fr-FR"/>
        </a:p>
      </dgm:t>
    </dgm:pt>
    <dgm:pt modelId="{DEDE1119-4F9B-4A73-A948-D3D777DC466A}" type="pres">
      <dgm:prSet presAssocID="{3BA7AA48-EB8C-4AF7-8412-422B2778D565}" presName="linear" presStyleCnt="0">
        <dgm:presLayoutVars>
          <dgm:animLvl val="lvl"/>
          <dgm:resizeHandles val="exact"/>
        </dgm:presLayoutVars>
      </dgm:prSet>
      <dgm:spPr/>
    </dgm:pt>
    <dgm:pt modelId="{91F29F1E-84C7-4ADA-A900-5997ADFA4490}" type="pres">
      <dgm:prSet presAssocID="{A43AC4EA-E59D-4075-8A5C-F8752B43D417}" presName="parentText" presStyleLbl="node1" presStyleIdx="0" presStyleCnt="1" custScaleY="75557" custLinFactNeighborX="226" custLinFactNeighborY="-5702">
        <dgm:presLayoutVars>
          <dgm:chMax val="0"/>
          <dgm:bulletEnabled val="1"/>
        </dgm:presLayoutVars>
      </dgm:prSet>
      <dgm:spPr/>
    </dgm:pt>
    <dgm:pt modelId="{6E9195F6-6A65-49A3-8115-C15240896B02}" type="pres">
      <dgm:prSet presAssocID="{A43AC4EA-E59D-4075-8A5C-F8752B43D41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C19F91C-5199-48AF-97A9-F901CB561BD5}" type="presOf" srcId="{A43AC4EA-E59D-4075-8A5C-F8752B43D417}" destId="{91F29F1E-84C7-4ADA-A900-5997ADFA4490}" srcOrd="0" destOrd="0" presId="urn:microsoft.com/office/officeart/2005/8/layout/vList2"/>
    <dgm:cxn modelId="{6CD61F77-F0AE-42A3-BFB2-C3EDB4333E62}" srcId="{3BA7AA48-EB8C-4AF7-8412-422B2778D565}" destId="{A43AC4EA-E59D-4075-8A5C-F8752B43D417}" srcOrd="0" destOrd="0" parTransId="{5D7B530C-F80F-4323-9F8A-9F5CF826B180}" sibTransId="{8986592B-10E5-4262-8121-DAC13942CCFD}"/>
    <dgm:cxn modelId="{3A599478-5EE7-48E5-A46F-5B8CAAC46573}" type="presOf" srcId="{3BA7AA48-EB8C-4AF7-8412-422B2778D565}" destId="{DEDE1119-4F9B-4A73-A948-D3D777DC466A}" srcOrd="0" destOrd="0" presId="urn:microsoft.com/office/officeart/2005/8/layout/vList2"/>
    <dgm:cxn modelId="{591320DB-7864-45DA-A277-BB0A3FB96EB8}" type="presOf" srcId="{6450055F-C20A-4B0E-8702-4034EF98DB43}" destId="{6E9195F6-6A65-49A3-8115-C15240896B02}" srcOrd="0" destOrd="0" presId="urn:microsoft.com/office/officeart/2005/8/layout/vList2"/>
    <dgm:cxn modelId="{E1BA01F6-4A48-48D1-9B96-E57A23FBAB62}" srcId="{A43AC4EA-E59D-4075-8A5C-F8752B43D417}" destId="{6450055F-C20A-4B0E-8702-4034EF98DB43}" srcOrd="0" destOrd="0" parTransId="{5BC32DFF-CAE1-4703-9A7B-DC1C36FD39DB}" sibTransId="{348822F2-AAD6-4B10-A3F0-1AB310C29064}"/>
    <dgm:cxn modelId="{D049A35D-C8E9-45DC-8E52-9305568DF601}" type="presParOf" srcId="{DEDE1119-4F9B-4A73-A948-D3D777DC466A}" destId="{91F29F1E-84C7-4ADA-A900-5997ADFA4490}" srcOrd="0" destOrd="0" presId="urn:microsoft.com/office/officeart/2005/8/layout/vList2"/>
    <dgm:cxn modelId="{CEFBF7DA-1319-4EA0-8416-90BD61F18907}" type="presParOf" srcId="{DEDE1119-4F9B-4A73-A948-D3D777DC466A}" destId="{6E9195F6-6A65-49A3-8115-C15240896B0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29F1E-84C7-4ADA-A900-5997ADFA4490}">
      <dsp:nvSpPr>
        <dsp:cNvPr id="0" name=""/>
        <dsp:cNvSpPr/>
      </dsp:nvSpPr>
      <dsp:spPr>
        <a:xfrm>
          <a:off x="0" y="0"/>
          <a:ext cx="8442000" cy="919377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Candara" panose="020E0502030303020204" pitchFamily="34" charset="0"/>
            </a:rPr>
            <a:t>Décision 1</a:t>
          </a:r>
        </a:p>
      </dsp:txBody>
      <dsp:txXfrm>
        <a:off x="44880" y="44880"/>
        <a:ext cx="8352240" cy="829617"/>
      </dsp:txXfrm>
    </dsp:sp>
    <dsp:sp modelId="{6E9195F6-6A65-49A3-8115-C15240896B02}">
      <dsp:nvSpPr>
        <dsp:cNvPr id="0" name=""/>
        <dsp:cNvSpPr/>
      </dsp:nvSpPr>
      <dsp:spPr>
        <a:xfrm>
          <a:off x="0" y="955670"/>
          <a:ext cx="8442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03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Besoin de ressources supplémentaires pour L’achat des matériaux</a:t>
          </a:r>
          <a:endParaRPr lang="fr-FR" sz="1800" kern="1200" dirty="0">
            <a:latin typeface="Candara" panose="020E0502030303020204" pitchFamily="34" charset="0"/>
          </a:endParaRPr>
        </a:p>
      </dsp:txBody>
      <dsp:txXfrm>
        <a:off x="0" y="955670"/>
        <a:ext cx="8442000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Cliquez pour déplacer la diapo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dt" idx="6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6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6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A745464-F839-405E-8135-A46D6F844F7B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91833F-7806-448F-8D12-EFD5AC7EC966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73AB2B-7161-46F4-B5A7-78376EF35A5F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4FC618-2E4B-4237-B34E-93B792E35C41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B76981-39C0-4C1E-A69C-F7215C36EF9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L’idée est de suivre l’évolution des risques tout au long du projet (Criticité, mesures préventives et correctives)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59F697-C55A-46A9-81CB-6C93266DE1E3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D18AA4-FFA6-498F-8D24-95EFB8E109E7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1098A4-B80A-4164-99E5-FFEF288255A9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F2A7F3-D301-44E9-A775-9852827F4662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F33482-077A-47BE-BED6-AF7D9FE04FFB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2">
              <a:alphaModFix amt="45000"/>
            </a:blip>
            <a:srcRect/>
            <a:tile tx="2423520" ty="2262330" sx="100000" sy="100000" algn="tl"/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1307880" y="1267560"/>
            <a:ext cx="9576000" cy="43077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65000"/>
                <a:lumOff val="35000"/>
              </a:srgbClr>
            </a:solidFill>
            <a:round/>
          </a:ln>
          <a:effectLst>
            <a:outerShdw algn="ctr" blurRad="633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10"/>
          <p:cNvSpPr/>
          <p:nvPr/>
        </p:nvSpPr>
        <p:spPr>
          <a:xfrm>
            <a:off x="1447920" y="1411560"/>
            <a:ext cx="9295920" cy="4034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14"/>
          <p:cNvSpPr/>
          <p:nvPr/>
        </p:nvSpPr>
        <p:spPr>
          <a:xfrm>
            <a:off x="5135760" y="1267560"/>
            <a:ext cx="1919880" cy="7311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" blurRad="50760" dir="5400000" dist="1260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oupe 3"/>
          <p:cNvGrpSpPr/>
          <p:nvPr/>
        </p:nvGrpSpPr>
        <p:grpSpPr>
          <a:xfrm>
            <a:off x="5249880" y="1267560"/>
            <a:ext cx="1691640" cy="645120"/>
            <a:chOff x="5249880" y="1267560"/>
            <a:chExt cx="1691640" cy="645120"/>
          </a:xfrm>
        </p:grpSpPr>
        <p:cxnSp>
          <p:nvCxnSpPr>
            <p:cNvPr id="7" name="Connecteur droit 16"/>
            <p:cNvCxnSpPr/>
            <p:nvPr/>
          </p:nvCxnSpPr>
          <p:spPr>
            <a:xfrm>
              <a:off x="524988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8" name="Connecteur droit 17"/>
            <p:cNvCxnSpPr/>
            <p:nvPr/>
          </p:nvCxnSpPr>
          <p:spPr>
            <a:xfrm>
              <a:off x="694152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9" name="Connecteur droit 18"/>
            <p:cNvCxnSpPr/>
            <p:nvPr/>
          </p:nvCxnSpPr>
          <p:spPr>
            <a:xfrm>
              <a:off x="5249880" y="1912680"/>
              <a:ext cx="1692000" cy="36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61680" y="2091240"/>
            <a:ext cx="9068400" cy="25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83000"/>
              </a:lnSpc>
              <a:buNone/>
            </a:pPr>
            <a:r>
              <a:rPr b="0" lang="fr-FR" sz="7200" spc="-99" strike="noStrike" u="none" cap="all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5318640" y="1341360"/>
            <a:ext cx="1554120" cy="52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1454040" y="5212080"/>
            <a:ext cx="590508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8606880" y="5212080"/>
            <a:ext cx="211140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331223-77B4-457F-BBD1-F4F9A74DA065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-tête de sec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2">
              <a:alphaModFix amt="40000"/>
            </a:blip>
            <a:srcRect/>
            <a:tile tx="2423520" ty="2262330" sx="100000" sy="100000" algn="tl"/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22"/>
          <p:cNvSpPr/>
          <p:nvPr/>
        </p:nvSpPr>
        <p:spPr>
          <a:xfrm>
            <a:off x="1307880" y="1267560"/>
            <a:ext cx="9576000" cy="43077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65000"/>
                <a:lumOff val="35000"/>
              </a:srgbClr>
            </a:solidFill>
            <a:round/>
          </a:ln>
          <a:effectLst>
            <a:outerShdw algn="ctr" blurRad="633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23"/>
          <p:cNvSpPr/>
          <p:nvPr/>
        </p:nvSpPr>
        <p:spPr>
          <a:xfrm>
            <a:off x="1447920" y="1411560"/>
            <a:ext cx="9295920" cy="4034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29"/>
          <p:cNvSpPr/>
          <p:nvPr/>
        </p:nvSpPr>
        <p:spPr>
          <a:xfrm>
            <a:off x="5135760" y="1267560"/>
            <a:ext cx="1919880" cy="7311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" blurRad="50760" dir="5400000" dist="1260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roupe 30"/>
          <p:cNvGrpSpPr/>
          <p:nvPr/>
        </p:nvGrpSpPr>
        <p:grpSpPr>
          <a:xfrm>
            <a:off x="5249880" y="1267560"/>
            <a:ext cx="1691640" cy="645120"/>
            <a:chOff x="5249880" y="1267560"/>
            <a:chExt cx="1691640" cy="645120"/>
          </a:xfrm>
        </p:grpSpPr>
        <p:cxnSp>
          <p:nvCxnSpPr>
            <p:cNvPr id="42" name="Connecteur droit 31"/>
            <p:cNvCxnSpPr/>
            <p:nvPr/>
          </p:nvCxnSpPr>
          <p:spPr>
            <a:xfrm>
              <a:off x="524988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43" name="Connecteur droit 32"/>
            <p:cNvCxnSpPr/>
            <p:nvPr/>
          </p:nvCxnSpPr>
          <p:spPr>
            <a:xfrm>
              <a:off x="694152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44" name="Connecteur droit 33"/>
            <p:cNvCxnSpPr/>
            <p:nvPr/>
          </p:nvCxnSpPr>
          <p:spPr>
            <a:xfrm>
              <a:off x="5249880" y="1912680"/>
              <a:ext cx="1692000" cy="36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63480" y="2094480"/>
            <a:ext cx="9070560" cy="25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83000"/>
              </a:lnSpc>
              <a:buNone/>
            </a:pPr>
            <a:r>
              <a:rPr b="0" lang="fr-FR" sz="7200" spc="-99" strike="noStrike" u="none" cap="all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563480" y="4682160"/>
            <a:ext cx="90705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13"/>
          </p:nvPr>
        </p:nvSpPr>
        <p:spPr>
          <a:xfrm>
            <a:off x="5321880" y="1344600"/>
            <a:ext cx="155412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14"/>
          </p:nvPr>
        </p:nvSpPr>
        <p:spPr>
          <a:xfrm>
            <a:off x="1454040" y="5212080"/>
            <a:ext cx="590652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5"/>
          </p:nvPr>
        </p:nvSpPr>
        <p:spPr>
          <a:xfrm>
            <a:off x="8604360" y="5212080"/>
            <a:ext cx="211176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A9F2BA-4327-4F58-BF54-F7E7B47B60FC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8040" cy="39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D93F27-52BB-42A4-8CE7-EEE71F44D950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991720" y="762120"/>
            <a:ext cx="236196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762120"/>
            <a:ext cx="807696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629AC5-3EC7-45A7-B2FC-06D34FAED7E7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8040" cy="39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0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1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2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E4051B-6190-4414-997E-973FECB7F66F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4754520" cy="374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370200" y="2103120"/>
            <a:ext cx="4754520" cy="374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6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17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18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1A85EE-01E1-4A0C-9C9A-6E935D07FC37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069920" y="207432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069920" y="2755800"/>
            <a:ext cx="475452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373440" y="207432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373440" y="2756520"/>
            <a:ext cx="475452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19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0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1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18EB1F-5FBC-4C98-B133-79EAFE93AA5B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uniquem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dt" idx="22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23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24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81F55E-8AEA-498C-8D31-766B2E429A4A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dt" idx="25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ftr" idx="26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27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97749F-3492-4055-88B9-DEB1BC67F55D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3"/>
          <p:cNvSpPr/>
          <p:nvPr/>
        </p:nvSpPr>
        <p:spPr>
          <a:xfrm>
            <a:off x="234720" y="237600"/>
            <a:ext cx="863280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5"/>
          <p:cNvSpPr/>
          <p:nvPr/>
        </p:nvSpPr>
        <p:spPr>
          <a:xfrm>
            <a:off x="371880" y="374760"/>
            <a:ext cx="835272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4"/>
          <p:cNvSpPr/>
          <p:nvPr/>
        </p:nvSpPr>
        <p:spPr>
          <a:xfrm>
            <a:off x="9020520" y="237600"/>
            <a:ext cx="2925720" cy="6382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296280" y="607320"/>
            <a:ext cx="2430360" cy="16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2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90560" y="704880"/>
            <a:ext cx="7562520" cy="51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9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9296280" y="2286000"/>
            <a:ext cx="2430360" cy="35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28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29"/>
          </p:nvPr>
        </p:nvSpPr>
        <p:spPr>
          <a:xfrm>
            <a:off x="3439080" y="6214680"/>
            <a:ext cx="518436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0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C4DA7A-7124-4DBD-8E6D-E40FC42921C5}" type="slidenum">
              <a: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Rectangle 10"/>
          <p:cNvSpPr/>
          <p:nvPr/>
        </p:nvSpPr>
        <p:spPr>
          <a:xfrm>
            <a:off x="9157680" y="374760"/>
            <a:ext cx="2651400" cy="6107760"/>
          </a:xfrm>
          <a:prstGeom prst="rect">
            <a:avLst/>
          </a:prstGeom>
          <a:noFill/>
          <a:ln cap="sq" w="6350">
            <a:solidFill>
              <a:srgbClr val="ffffff">
                <a:lumMod val="65000"/>
                <a:lumOff val="35000"/>
              </a:srgbClr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 13"/>
          <p:cNvSpPr/>
          <p:nvPr/>
        </p:nvSpPr>
        <p:spPr>
          <a:xfrm>
            <a:off x="9020520" y="237600"/>
            <a:ext cx="2925720" cy="6382080"/>
          </a:xfrm>
          <a:prstGeom prst="rect">
            <a:avLst/>
          </a:prstGeom>
          <a:solidFill>
            <a:schemeClr val="tx1"/>
          </a:solidFill>
          <a:ln cap="sq" w="6350">
            <a:solidFill>
              <a:srgbClr val="ffffff">
                <a:lumMod val="75000"/>
              </a:srgbClr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8"/>
          <p:cNvSpPr/>
          <p:nvPr/>
        </p:nvSpPr>
        <p:spPr>
          <a:xfrm>
            <a:off x="9157680" y="374760"/>
            <a:ext cx="26514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296280" y="603360"/>
            <a:ext cx="2431800" cy="16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2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228600" y="237600"/>
            <a:ext cx="8600760" cy="6382080"/>
          </a:xfrm>
          <a:prstGeom prst="rect">
            <a:avLst/>
          </a:prstGeom>
          <a:solidFill>
            <a:srgbClr val="80808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Cliquez sur l’icône pour ajouter une image</a:t>
            </a:r>
            <a:endParaRPr b="0" lang="fr-FR" sz="3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9296280" y="2286000"/>
            <a:ext cx="2431800" cy="35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31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32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33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D816C3-23D1-48DA-82B7-AB07292049ED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D6C2DD-31DB-46CA-B0D2-13CFE7217B26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Standar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D08083-FB47-4A12-9840-56608159A53E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Standar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E2330C-F7E7-488D-A9AD-4724C18B9DF9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1EE75F-97D0-48EF-8A39-4BFD43E05BB5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CF4EF3-E6C8-480D-83CE-AF7326AD90BC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BB115E-4F2D-44A9-80A3-CCC216798693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8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0AEB21-A953-4859-8B7C-EFF9003BD7FB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10A12E-0276-47AF-83B7-1987D523B42B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5159B0-4561-435B-9442-622764FF8462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AB4E34-0B4E-4A3C-ABF1-8671172B1665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46100D-A7A0-4BB4-A17D-37390655BFAC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5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ZoneTexte 3"/>
          <p:cNvSpPr/>
          <p:nvPr/>
        </p:nvSpPr>
        <p:spPr>
          <a:xfrm>
            <a:off x="3252240" y="2110680"/>
            <a:ext cx="545148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fr-FR" sz="40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Réunion du comité de pilotage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fr-FR" sz="32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Beemo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4" descr=""/>
          <p:cNvPicPr/>
          <p:nvPr/>
        </p:nvPicPr>
        <p:blipFill>
          <a:blip r:embed="rId1"/>
          <a:stretch/>
        </p:blipFill>
        <p:spPr>
          <a:xfrm>
            <a:off x="1872720" y="4515120"/>
            <a:ext cx="2474640" cy="53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Rectangle 6"/>
          <p:cNvSpPr/>
          <p:nvPr/>
        </p:nvSpPr>
        <p:spPr>
          <a:xfrm>
            <a:off x="5294520" y="4581360"/>
            <a:ext cx="1588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fr-FR" sz="20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Le 20/11/2024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9"/>
          <p:cNvSpPr/>
          <p:nvPr/>
        </p:nvSpPr>
        <p:spPr>
          <a:xfrm>
            <a:off x="0" y="-2592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Ordre du jour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archemin vertical 3"/>
          <p:cNvSpPr/>
          <p:nvPr/>
        </p:nvSpPr>
        <p:spPr>
          <a:xfrm>
            <a:off x="2519280" y="1481760"/>
            <a:ext cx="7152840" cy="436212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Décision du COPIL précèdent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Vue d’ensemble sur l’avancement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Vue d’ensemble sur la performance de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du budget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du planning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des risques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Evolution des KPIs de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Décisions à prendre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Validation des demandes de changement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Questions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Prochaines réunions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Revue du Budget simplifiée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2" name="Graphique 5"/>
          <p:cNvGraphicFramePr/>
          <p:nvPr/>
        </p:nvGraphicFramePr>
        <p:xfrm>
          <a:off x="1645560" y="873720"/>
          <a:ext cx="8127720" cy="504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Analyse de la valeur acquise ½ *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ZoneTexte 6"/>
          <p:cNvSpPr/>
          <p:nvPr/>
        </p:nvSpPr>
        <p:spPr>
          <a:xfrm>
            <a:off x="1085760" y="6187320"/>
            <a:ext cx="5165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Cf ‘’Rapport de suivi du budget’’ pour plus de détails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2" descr=""/>
          <p:cNvPicPr/>
          <p:nvPr/>
        </p:nvPicPr>
        <p:blipFill>
          <a:blip r:embed="rId1"/>
          <a:stretch/>
        </p:blipFill>
        <p:spPr>
          <a:xfrm>
            <a:off x="1281600" y="1097280"/>
            <a:ext cx="7983720" cy="414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Analyse de la valeur acquise 2/2 *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ZoneTexte 6"/>
          <p:cNvSpPr/>
          <p:nvPr/>
        </p:nvSpPr>
        <p:spPr>
          <a:xfrm>
            <a:off x="819720" y="6469560"/>
            <a:ext cx="6105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Cf ‘’Rapport de suivi du budget’’ pour plus de détails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2" descr=""/>
          <p:cNvPicPr/>
          <p:nvPr/>
        </p:nvPicPr>
        <p:blipFill>
          <a:blip r:embed="rId1"/>
          <a:stretch/>
        </p:blipFill>
        <p:spPr>
          <a:xfrm>
            <a:off x="1562040" y="1678680"/>
            <a:ext cx="8257680" cy="375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ZoneTexte 2"/>
          <p:cNvSpPr/>
          <p:nvPr/>
        </p:nvSpPr>
        <p:spPr>
          <a:xfrm>
            <a:off x="963360" y="6046560"/>
            <a:ext cx="6556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*cf ‘’</a:t>
            </a:r>
            <a:r>
              <a:rPr b="0" lang="fr-B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Registre des risques’’ pour plus de détails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Revue des risques du projet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4" name="Image 4" descr=""/>
          <p:cNvPicPr/>
          <p:nvPr/>
        </p:nvPicPr>
        <p:blipFill>
          <a:blip r:embed="rId1"/>
          <a:stretch/>
        </p:blipFill>
        <p:spPr>
          <a:xfrm>
            <a:off x="871560" y="1000080"/>
            <a:ext cx="10448640" cy="485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Tableau 8"/>
          <p:cNvGraphicFramePr/>
          <p:nvPr/>
        </p:nvGraphicFramePr>
        <p:xfrm>
          <a:off x="681480" y="1239120"/>
          <a:ext cx="11135160" cy="2928600"/>
        </p:xfrm>
        <a:graphic>
          <a:graphicData uri="http://schemas.openxmlformats.org/drawingml/2006/table">
            <a:tbl>
              <a:tblPr/>
              <a:tblGrid>
                <a:gridCol w="2863440"/>
                <a:gridCol w="1594440"/>
                <a:gridCol w="2573280"/>
                <a:gridCol w="1492920"/>
                <a:gridCol w="2610360"/>
              </a:tblGrid>
              <a:tr h="55188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KPI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Cible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Etat actuel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Tendance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Commentaire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914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Budget de mise en place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52000 K euros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(Réel aligné sur Planifié)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Stable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Sur la bonne voie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1264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Retour sur investissement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an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 bonne voie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6940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Satisfaction clients internes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90%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Confiance grandissante dans les avantages du projet après les tests communs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781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Satisfaction clients externes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100%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Stable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mesurer au premier trimestre 2025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6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Evolution des KPIs du projet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/>
          </p:nvPr>
        </p:nvSpPr>
        <p:spPr>
          <a:xfrm>
            <a:off x="674640" y="1575720"/>
            <a:ext cx="1067904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Points en suspens et les décisions à prendre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Décisions à prendre / Arbitrage à faire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448938729"/>
              </p:ext>
            </p:extLst>
          </p:nvPr>
        </p:nvGraphicFramePr>
        <p:xfrm>
          <a:off x="1073160" y="2208240"/>
          <a:ext cx="8441640" cy="206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Questions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3" name="Picture 2" descr="Questionnement Png Transparent Images – Free PNG Images Vector, PSD,  Clipart, Templates"/>
          <p:cNvPicPr/>
          <p:nvPr/>
        </p:nvPicPr>
        <p:blipFill>
          <a:blip r:embed="rId1"/>
          <a:stretch/>
        </p:blipFill>
        <p:spPr>
          <a:xfrm>
            <a:off x="1915200" y="2553480"/>
            <a:ext cx="2101320" cy="164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ZoneTexte 1"/>
          <p:cNvSpPr/>
          <p:nvPr/>
        </p:nvSpPr>
        <p:spPr>
          <a:xfrm>
            <a:off x="4632480" y="2914920"/>
            <a:ext cx="64350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L’équipe projet se fera un plaisir de répondre à toutes les questions, remarques et suggestions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/>
          </p:nvPr>
        </p:nvSpPr>
        <p:spPr>
          <a:xfrm>
            <a:off x="983880" y="2090160"/>
            <a:ext cx="6443280" cy="15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Prochaines réunions du comité de pilotage: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29e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Le 29/03/2025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Prochaines réunions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de savon jardin</Template>
  <TotalTime>0</TotalTime>
  <Application>LibreOffice/25.2.5.2$Windows_X86_64 LibreOffice_project/03d19516eb2e1dd5d4ccd751a0d6f35f35e08022</Application>
  <AppVersion>15.0000</AppVersion>
  <Words>435</Words>
  <Paragraphs>97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2021-04-13T17:12:54Z</dcterms:created>
  <dc:creator/>
  <dc:description/>
  <dc:language>fr-FR</dc:language>
  <cp:lastModifiedBy/>
  <dcterms:modified xsi:type="dcterms:W3CDTF">2025-09-24T12:54:53Z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10</vt:i4>
  </property>
  <property fmtid="{D5CDD505-2E9C-101B-9397-08002B2CF9AE}" pid="4" name="PresentationFormat">
    <vt:lpwstr>Grand écran</vt:lpwstr>
  </property>
  <property fmtid="{D5CDD505-2E9C-101B-9397-08002B2CF9AE}" pid="5" name="Slides">
    <vt:i4>11</vt:i4>
  </property>
</Properties>
</file>