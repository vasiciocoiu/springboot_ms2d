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_rels/item3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_rels/theme1.xml.rels" ContentType="application/vnd.openxmlformats-package.relationships+xml"/>
  <Override PartName="/ppt/theme/_rels/theme2.xml.rels" ContentType="application/vnd.openxmlformats-package.relationships+xml"/>
  <Override PartName="/ppt/theme/_rels/theme3.xml.rels" ContentType="application/vnd.openxmlformats-package.relationships+xml"/>
  <Override PartName="/ppt/theme/theme23.xml" ContentType="application/vnd.openxmlformats-officedocument.theme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1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1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trike="noStrike" u="none">
                <a:solidFill>
                  <a:srgbClr val="000000"/>
                </a:solidFill>
                <a:uFillTx/>
                <a:latin typeface="Arial"/>
              </a:defRPr>
            </a:pP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Budget SAP30/CMRL à fin 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Septembre</a:t>
            </a:r>
            <a:r>
              <a:rPr b="1" lang="en-US" sz="1862" strike="noStrike" u="none">
                <a:solidFill>
                  <a:srgbClr val="548235"/>
                </a:solidFill>
                <a:uFillTx/>
                <a:latin typeface="Calibri"/>
              </a:rPr>
              <a:t> 2021</a:t>
            </a:r>
          </a:p>
        </c:rich>
      </c:tx>
      <c:layout>
        <c:manualLayout>
          <c:xMode val="edge"/>
          <c:yMode val="edge"/>
          <c:x val="0.217655135757629"/>
          <c:y val="0.131338380231396"/>
        </c:manualLayout>
      </c:layout>
      <c:overlay val="0"/>
      <c:spPr>
        <a:noFill/>
        <a:ln w="0">
          <a:noFill/>
        </a:ln>
      </c:spPr>
    </c:title>
    <c:autoTitleDeleted val="0"/>
    <c:plotArea>
      <c:layout>
        <c:manualLayout>
          <c:layoutTarget val="inner"/>
          <c:xMode val="edge"/>
          <c:yMode val="edge"/>
          <c:x val="0.171059042388271"/>
          <c:y val="0.247464647907442"/>
          <c:w val="0.745758958231829"/>
          <c:h val="0.59941436937580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nov-24</c:v>
                </c:pt>
              </c:strCache>
            </c:strRef>
          </c:tx>
          <c:spPr>
            <a:solidFill>
              <a:srgbClr val="a9d18e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5b9bd5"/>
              </a:solidFill>
              <a:ln w="0">
                <a:noFill/>
              </a:ln>
            </c:spPr>
          </c:dPt>
          <c:dPt>
            <c:idx val="1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0"/>
              </a:gradFill>
              <a:ln w="0">
                <a:noFill/>
              </a:ln>
            </c:spPr>
          </c:dPt>
          <c:dPt>
            <c:idx val="2"/>
            <c:invertIfNegative val="0"/>
            <c:spPr>
              <a:gradFill>
                <a:gsLst>
                  <a:gs pos="0">
                    <a:srgbClr val="637e51"/>
                  </a:gs>
                  <a:gs pos="50000">
                    <a:srgbClr val="8db473"/>
                  </a:gs>
                  <a:gs pos="100000">
                    <a:srgbClr val="a7d588"/>
                  </a:gs>
                </a:gsLst>
                <a:lin ang="5400000"/>
              </a:gradFill>
              <a:ln w="0">
                <a:noFill/>
              </a:ln>
            </c:spPr>
          </c:dPt>
          <c:dLbls>
            <c:numFmt formatCode="General" sourceLinked="0"/>
            <c:dLbl>
              <c:idx val="0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52000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26000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General" sourceLinked="0"/>
              <c:txPr>
                <a:bodyPr wrap="square"/>
                <a:lstStyle/>
                <a:p>
                  <a:pPr>
                    <a:defRPr b="0" sz="1000" strike="noStrike" u="none">
                      <a:solidFill>
                        <a:srgbClr val="000000"/>
                      </a:solidFill>
                      <a:uFillTx/>
                      <a:latin typeface="Calibri"/>
                    </a:defRPr>
                  </a:pPr>
                </a:p>
              </c:txPr>
              <c:tx>
                <c:rich>
                  <a:bodyPr/>
                  <a:p>
                    <a:r>
                      <a:rPr b="0" lang="en-US" sz="1197" strike="noStrike" u="none">
                        <a:solidFill>
                          <a:srgbClr val="404040"/>
                        </a:solidFill>
                        <a:uFillTx/>
                        <a:latin typeface="Calibri"/>
                      </a:rPr>
                      <a:t>26000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197" strike="noStrike" u="none">
                    <a:solidFill>
                      <a:srgbClr val="404040"/>
                    </a:solidFill>
                    <a:uFillTx/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Total</c:v>
                </c:pt>
                <c:pt idx="1">
                  <c:v>Réel</c:v>
                </c:pt>
                <c:pt idx="2">
                  <c:v>Planifié à cette date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52000</c:v>
                </c:pt>
                <c:pt idx="1">
                  <c:v>26000</c:v>
                </c:pt>
                <c:pt idx="2">
                  <c:v>26000</c:v>
                </c:pt>
              </c:numCache>
            </c:numRef>
          </c:val>
        </c:ser>
        <c:gapWidth val="170"/>
        <c:overlap val="0"/>
        <c:axId val="5122737"/>
        <c:axId val="63553608"/>
      </c:barChart>
      <c:catAx>
        <c:axId val="512273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63553608"/>
        <c:crosses val="autoZero"/>
        <c:auto val="1"/>
        <c:lblAlgn val="ctr"/>
        <c:lblOffset val="100"/>
        <c:noMultiLvlLbl val="0"/>
      </c:catAx>
      <c:valAx>
        <c:axId val="63553608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512273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A7AA48-EB8C-4AF7-8412-422B2778D56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A43AC4EA-E59D-4075-8A5C-F8752B43D417}">
      <dgm:prSet phldrT="[Texte]" custT="1"/>
      <dgm:spPr>
        <a:solidFill>
          <a:schemeClr val="accent4"/>
        </a:solidFill>
      </dgm:spPr>
      <dgm:t>
        <a:bodyPr/>
        <a:lstStyle/>
        <a:p>
          <a:r>
            <a:rPr lang="fr-FR" sz="2000" dirty="0">
              <a:latin typeface="Candara" panose="020E0502030303020204" pitchFamily="34" charset="0"/>
            </a:rPr>
            <a:t>Décision 1</a:t>
          </a:r>
        </a:p>
      </dgm:t>
    </dgm:pt>
    <dgm:pt modelId="{5D7B530C-F80F-4323-9F8A-9F5CF826B180}" type="parTrans" cxnId="{6CD61F77-F0AE-42A3-BFB2-C3EDB4333E62}">
      <dgm:prSet/>
      <dgm:spPr/>
      <dgm:t>
        <a:bodyPr/>
        <a:lstStyle/>
        <a:p>
          <a:endParaRPr lang="fr-FR"/>
        </a:p>
      </dgm:t>
    </dgm:pt>
    <dgm:pt modelId="{8986592B-10E5-4262-8121-DAC13942CCFD}" type="sibTrans" cxnId="{6CD61F77-F0AE-42A3-BFB2-C3EDB4333E62}">
      <dgm:prSet/>
      <dgm:spPr/>
      <dgm:t>
        <a:bodyPr/>
        <a:lstStyle/>
        <a:p>
          <a:endParaRPr lang="fr-FR"/>
        </a:p>
      </dgm:t>
    </dgm:pt>
    <dgm:pt modelId="{6450055F-C20A-4B0E-8702-4034EF98DB43}">
      <dgm:prSet phldrT="[Texte]" custT="1"/>
      <dgm:spPr/>
      <dgm:t>
        <a:bodyPr/>
        <a:lstStyle/>
        <a:p>
          <a:r>
            <a:rPr lang="fr-FR" sz="1800" dirty="0"/>
            <a:t>Besoin de ressources supplémentaires pour L’achat des matériaux</a:t>
          </a:r>
          <a:endParaRPr lang="fr-FR" sz="1800" dirty="0">
            <a:latin typeface="Candara" panose="020E0502030303020204" pitchFamily="34" charset="0"/>
          </a:endParaRPr>
        </a:p>
      </dgm:t>
    </dgm:pt>
    <dgm:pt modelId="{5BC32DFF-CAE1-4703-9A7B-DC1C36FD39DB}" type="parTrans" cxnId="{E1BA01F6-4A48-48D1-9B96-E57A23FBAB62}">
      <dgm:prSet/>
      <dgm:spPr/>
      <dgm:t>
        <a:bodyPr/>
        <a:lstStyle/>
        <a:p>
          <a:endParaRPr lang="fr-FR"/>
        </a:p>
      </dgm:t>
    </dgm:pt>
    <dgm:pt modelId="{348822F2-AAD6-4B10-A3F0-1AB310C29064}" type="sibTrans" cxnId="{E1BA01F6-4A48-48D1-9B96-E57A23FBAB62}">
      <dgm:prSet/>
      <dgm:spPr/>
      <dgm:t>
        <a:bodyPr/>
        <a:lstStyle/>
        <a:p>
          <a:endParaRPr lang="fr-FR"/>
        </a:p>
      </dgm:t>
    </dgm:pt>
    <dgm:pt modelId="{DEDE1119-4F9B-4A73-A948-D3D777DC466A}" type="pres">
      <dgm:prSet presAssocID="{3BA7AA48-EB8C-4AF7-8412-422B2778D565}" presName="linear" presStyleCnt="0">
        <dgm:presLayoutVars>
          <dgm:animLvl val="lvl"/>
          <dgm:resizeHandles val="exact"/>
        </dgm:presLayoutVars>
      </dgm:prSet>
      <dgm:spPr/>
    </dgm:pt>
    <dgm:pt modelId="{91F29F1E-84C7-4ADA-A900-5997ADFA4490}" type="pres">
      <dgm:prSet presAssocID="{A43AC4EA-E59D-4075-8A5C-F8752B43D417}" presName="parentText" presStyleLbl="node1" presStyleIdx="0" presStyleCnt="1" custScaleY="75557" custLinFactNeighborX="226" custLinFactNeighborY="-5702">
        <dgm:presLayoutVars>
          <dgm:chMax val="0"/>
          <dgm:bulletEnabled val="1"/>
        </dgm:presLayoutVars>
      </dgm:prSet>
      <dgm:spPr/>
    </dgm:pt>
    <dgm:pt modelId="{6E9195F6-6A65-49A3-8115-C15240896B02}" type="pres">
      <dgm:prSet presAssocID="{A43AC4EA-E59D-4075-8A5C-F8752B43D417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AC19F91C-5199-48AF-97A9-F901CB561BD5}" type="presOf" srcId="{A43AC4EA-E59D-4075-8A5C-F8752B43D417}" destId="{91F29F1E-84C7-4ADA-A900-5997ADFA4490}" srcOrd="0" destOrd="0" presId="urn:microsoft.com/office/officeart/2005/8/layout/vList2"/>
    <dgm:cxn modelId="{6CD61F77-F0AE-42A3-BFB2-C3EDB4333E62}" srcId="{3BA7AA48-EB8C-4AF7-8412-422B2778D565}" destId="{A43AC4EA-E59D-4075-8A5C-F8752B43D417}" srcOrd="0" destOrd="0" parTransId="{5D7B530C-F80F-4323-9F8A-9F5CF826B180}" sibTransId="{8986592B-10E5-4262-8121-DAC13942CCFD}"/>
    <dgm:cxn modelId="{3A599478-5EE7-48E5-A46F-5B8CAAC46573}" type="presOf" srcId="{3BA7AA48-EB8C-4AF7-8412-422B2778D565}" destId="{DEDE1119-4F9B-4A73-A948-D3D777DC466A}" srcOrd="0" destOrd="0" presId="urn:microsoft.com/office/officeart/2005/8/layout/vList2"/>
    <dgm:cxn modelId="{591320DB-7864-45DA-A277-BB0A3FB96EB8}" type="presOf" srcId="{6450055F-C20A-4B0E-8702-4034EF98DB43}" destId="{6E9195F6-6A65-49A3-8115-C15240896B02}" srcOrd="0" destOrd="0" presId="urn:microsoft.com/office/officeart/2005/8/layout/vList2"/>
    <dgm:cxn modelId="{E1BA01F6-4A48-48D1-9B96-E57A23FBAB62}" srcId="{A43AC4EA-E59D-4075-8A5C-F8752B43D417}" destId="{6450055F-C20A-4B0E-8702-4034EF98DB43}" srcOrd="0" destOrd="0" parTransId="{5BC32DFF-CAE1-4703-9A7B-DC1C36FD39DB}" sibTransId="{348822F2-AAD6-4B10-A3F0-1AB310C29064}"/>
    <dgm:cxn modelId="{D049A35D-C8E9-45DC-8E52-9305568DF601}" type="presParOf" srcId="{DEDE1119-4F9B-4A73-A948-D3D777DC466A}" destId="{91F29F1E-84C7-4ADA-A900-5997ADFA4490}" srcOrd="0" destOrd="0" presId="urn:microsoft.com/office/officeart/2005/8/layout/vList2"/>
    <dgm:cxn modelId="{CEFBF7DA-1319-4EA0-8416-90BD61F18907}" type="presParOf" srcId="{DEDE1119-4F9B-4A73-A948-D3D777DC466A}" destId="{6E9195F6-6A65-49A3-8115-C15240896B02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F29F1E-84C7-4ADA-A900-5997ADFA4490}">
      <dsp:nvSpPr>
        <dsp:cNvPr id="0" name=""/>
        <dsp:cNvSpPr/>
      </dsp:nvSpPr>
      <dsp:spPr>
        <a:xfrm>
          <a:off x="0" y="0"/>
          <a:ext cx="8442000" cy="919377"/>
        </a:xfrm>
        <a:prstGeom prst="roundRect">
          <a:avLst/>
        </a:prstGeom>
        <a:solidFill>
          <a:schemeClr val="accent4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kern="1200" dirty="0">
              <a:latin typeface="Candara" panose="020E0502030303020204" pitchFamily="34" charset="0"/>
            </a:rPr>
            <a:t>Décision 1</a:t>
          </a:r>
        </a:p>
      </dsp:txBody>
      <dsp:txXfrm>
        <a:off x="44880" y="44880"/>
        <a:ext cx="8352240" cy="829617"/>
      </dsp:txXfrm>
    </dsp:sp>
    <dsp:sp modelId="{6E9195F6-6A65-49A3-8115-C15240896B02}">
      <dsp:nvSpPr>
        <dsp:cNvPr id="0" name=""/>
        <dsp:cNvSpPr/>
      </dsp:nvSpPr>
      <dsp:spPr>
        <a:xfrm>
          <a:off x="0" y="955670"/>
          <a:ext cx="8442000" cy="1076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803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800" kern="1200" dirty="0"/>
            <a:t>Besoin de ressources supplémentaires pour L’achat des matériaux</a:t>
          </a:r>
          <a:endParaRPr lang="fr-FR" sz="1800" kern="1200" dirty="0">
            <a:latin typeface="Candara" panose="020E0502030303020204" pitchFamily="34" charset="0"/>
          </a:endParaRPr>
        </a:p>
      </dsp:txBody>
      <dsp:txXfrm>
        <a:off x="0" y="955670"/>
        <a:ext cx="8442000" cy="1076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PlaceHolder 4"/>
          <p:cNvSpPr>
            <a:spLocks noGrp="1"/>
          </p:cNvSpPr>
          <p:nvPr>
            <p:ph type="dt" idx="7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5"/>
          <p:cNvSpPr>
            <a:spLocks noGrp="1"/>
          </p:cNvSpPr>
          <p:nvPr>
            <p:ph type="ftr" idx="7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6"/>
          <p:cNvSpPr>
            <a:spLocks noGrp="1"/>
          </p:cNvSpPr>
          <p:nvPr>
            <p:ph type="sldNum" idx="7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DBC74C0-C595-460C-9B7D-C4A47751D036}" type="slidenum"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05FABB-EBDA-456E-B5A9-421A3D60ECCB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C48669-D953-46C2-B86C-4F5B8C0DED00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76FE5B-0138-46A5-A54B-22B909DE836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EC94DF-531A-46C9-9014-F5F192653CD5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L’idée est de suivre l’évolution des risques tout au long du projet (Criticité, mesures préventives et correctives)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3549FA-04DF-4DA5-B7D6-6433F75D9813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808F02-90A8-410A-8342-89AF40475CC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222655-ED67-44B3-B948-A3935785CC51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1B90BB-96C3-427B-ADCD-477F2FAD6BDF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32BAF1-8DE4-4B88-9237-7369865B7859}" type="slidenum">
              <a:rPr b="0" lang="fr-FR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8A3E2AF-A24A-4D68-9209-3E107F466C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9EEA07D-3BBE-4A59-8083-6E898C9448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ectangle 13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1"/>
          </a:solidFill>
          <a:ln cap="sq" w="6350">
            <a:solidFill>
              <a:srgbClr val="bfbfb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Rectangle 8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9296280" y="603360"/>
            <a:ext cx="243144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228600" y="237600"/>
            <a:ext cx="8600400" cy="6381720"/>
          </a:xfrm>
          <a:prstGeom prst="rect">
            <a:avLst/>
          </a:prstGeom>
          <a:solidFill>
            <a:srgbClr val="80808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Cliquez sur l’icône pour ajouter une image</a:t>
            </a:r>
            <a:endParaRPr b="0" lang="fr-F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1440" cy="350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7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8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9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28EDDD7-D784-450E-A8C5-A70325870F68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re et texte vertica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10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11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EAED9E1-C106-4BCE-AAAF-68CEFCEB96A4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itre vertical et text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991720" y="762120"/>
            <a:ext cx="2361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762120"/>
            <a:ext cx="8076600" cy="5257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5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7F643C9-8DB4-480F-929F-4A6A87BF459F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re et contenu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10057680" cy="393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dt" idx="16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ftr" idx="17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sldNum" idx="18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32FDD11-6DE8-434C-98F9-16D6F4DDE83F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ux contenu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106668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370200" y="2103120"/>
            <a:ext cx="4754160" cy="374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19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20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21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00BD1AD-44DC-46FC-A147-A969075A1656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is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106992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1069920" y="275580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6373440" y="2074320"/>
            <a:ext cx="47541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6373440" y="2756520"/>
            <a:ext cx="4754160" cy="319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dt" idx="22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 type="ftr" idx="23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8"/>
          <p:cNvSpPr>
            <a:spLocks noGrp="1"/>
          </p:cNvSpPr>
          <p:nvPr>
            <p:ph type="sldNum" idx="24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2097E01-3904-40B4-A429-644FCDFCE6FE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uniquem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066680" y="642600"/>
            <a:ext cx="10057680" cy="137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8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dt" idx="25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ftr" idx="26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sldNum" idx="27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283DDD2-E5CB-4121-A525-FF53A14831E4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6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7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dt" idx="28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29"/>
          </p:nvPr>
        </p:nvSpPr>
        <p:spPr>
          <a:xfrm>
            <a:off x="3489840" y="6214680"/>
            <a:ext cx="521136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30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32D0982-4E0D-4C54-BBF3-09ECC253B104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avec légen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3"/>
          <p:cNvSpPr/>
          <p:nvPr/>
        </p:nvSpPr>
        <p:spPr>
          <a:xfrm>
            <a:off x="234720" y="237600"/>
            <a:ext cx="863244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5"/>
          <p:cNvSpPr/>
          <p:nvPr/>
        </p:nvSpPr>
        <p:spPr>
          <a:xfrm>
            <a:off x="371880" y="374760"/>
            <a:ext cx="835236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9020520" y="237600"/>
            <a:ext cx="2925360" cy="63817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9296280" y="607320"/>
            <a:ext cx="2430000" cy="164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90560" y="704880"/>
            <a:ext cx="7562160" cy="514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82880" indent="-182880" defTabSz="914400">
              <a:lnSpc>
                <a:spcPct val="100000"/>
              </a:lnSpc>
              <a:spcBef>
                <a:spcPts val="901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9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5720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6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Deuxième niveau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73152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Troisième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00584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Quatrième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280160" indent="-182880" defTabSz="914400">
              <a:lnSpc>
                <a:spcPct val="100000"/>
              </a:lnSpc>
              <a:spcBef>
                <a:spcPts val="499"/>
              </a:spcBef>
              <a:buClr>
                <a:srgbClr val="eeebe3"/>
              </a:buClr>
              <a:buFont typeface="Arial"/>
              <a:buChar char="•"/>
            </a:pPr>
            <a:r>
              <a:rPr b="0" lang="fr-FR" sz="1400" strike="noStrike" u="none">
                <a:solidFill>
                  <a:schemeClr val="lt1"/>
                </a:solidFill>
                <a:effectLst/>
                <a:uFillTx/>
                <a:latin typeface="Century Gothic"/>
              </a:rPr>
              <a:t>Cinquième niveau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9296280" y="2286000"/>
            <a:ext cx="2430000" cy="35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chemeClr val="dk1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31"/>
          </p:nvPr>
        </p:nvSpPr>
        <p:spPr>
          <a:xfrm>
            <a:off x="389520" y="6214680"/>
            <a:ext cx="274248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32"/>
          </p:nvPr>
        </p:nvSpPr>
        <p:spPr>
          <a:xfrm>
            <a:off x="3439080" y="6214680"/>
            <a:ext cx="518400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33"/>
          </p:nvPr>
        </p:nvSpPr>
        <p:spPr>
          <a:xfrm>
            <a:off x="10348560" y="6214680"/>
            <a:ext cx="1462320" cy="2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6E61B79-6C31-4372-83CA-80261DC83456}" type="slidenum">
              <a:rPr b="0" lang="fr-FR" sz="10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Rectangle 10"/>
          <p:cNvSpPr/>
          <p:nvPr/>
        </p:nvSpPr>
        <p:spPr>
          <a:xfrm>
            <a:off x="9157680" y="374760"/>
            <a:ext cx="2651040" cy="6107400"/>
          </a:xfrm>
          <a:prstGeom prst="rect">
            <a:avLst/>
          </a:prstGeom>
          <a:noFill/>
          <a:ln cap="sq" w="6350">
            <a:solidFill>
              <a:srgbClr val="ffffff"/>
            </a:solidFill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D9CD264-B704-4A88-9250-4F3CE1E598F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4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5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6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DC75DD6-32C4-4745-887D-5B6058580B57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4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5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PlaceHolder 6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5C75933-F051-4B00-9A20-7D8D4056A966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F14374-AD80-4757-B78C-E17881997F34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Standar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5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B8E8C88-E71F-420C-B328-302DA1A47621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Standar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375A635-453A-4255-85CE-0572D7B2E8BD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201F2C0-0A73-40B5-ADA5-5A6F26A3CF55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C08DC7F-82BF-4269-9E55-1D19A1751EE2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5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697BF9F-ECF2-4479-B6AE-C50884AF30F1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de 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5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6E0B8D5-2E7D-4BA1-A1C9-D95945C3F692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Standard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 type="ftr" idx="6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sldNum" idx="6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44FC918-793C-4D9A-948E-6469836B74FF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Modifier les styles du texte du masque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Deuxième niveau</a:t>
            </a:r>
            <a:endParaRPr b="0" lang="fr-F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Troisième niveau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Quatrième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Cinquième niveau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6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PlaceHolder 7"/>
          <p:cNvSpPr>
            <a:spLocks noGrp="1"/>
          </p:cNvSpPr>
          <p:nvPr>
            <p:ph type="ftr" idx="6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PlaceHolder 8"/>
          <p:cNvSpPr>
            <a:spLocks noGrp="1"/>
          </p:cNvSpPr>
          <p:nvPr>
            <p:ph type="sldNum" idx="6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A593CEF-194A-4EBC-9C89-5EA3A53F0C51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re se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Modifiez le style du titre</a:t>
            </a:r>
            <a:endParaRPr b="0" lang="fr-F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ftr" idx="7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 type="sldNum" idx="7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642F72A-1DAC-4AE0-9CD2-F718B10670B7}" type="slidenum">
              <a:rPr b="0" lang="fr-FR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b="0" lang="fr-F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15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5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Rectangle 9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10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14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e 3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7" name="Connecteur droit 16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8" name="Connecteur droit 17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9" name="Connecteur droit 18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561680" y="2091240"/>
            <a:ext cx="9068040" cy="25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1"/>
          </p:nvPr>
        </p:nvSpPr>
        <p:spPr>
          <a:xfrm>
            <a:off x="5318640" y="1341360"/>
            <a:ext cx="1553760" cy="52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 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2"/>
          </p:nvPr>
        </p:nvSpPr>
        <p:spPr>
          <a:xfrm>
            <a:off x="1454040" y="5212080"/>
            <a:ext cx="590472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3"/>
          </p:nvPr>
        </p:nvSpPr>
        <p:spPr>
          <a:xfrm>
            <a:off x="8606880" y="5212080"/>
            <a:ext cx="211104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F5ECDDD-11D1-4405-9CD8-59A9704EB670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3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6" hidden="1"/>
          <p:cNvSpPr/>
          <p:nvPr/>
        </p:nvSpPr>
        <p:spPr>
          <a:xfrm>
            <a:off x="234720" y="237600"/>
            <a:ext cx="11721960" cy="6381720"/>
          </a:xfrm>
          <a:prstGeom prst="rect">
            <a:avLst/>
          </a:prstGeom>
          <a:solidFill>
            <a:schemeClr val="tx1"/>
          </a:solidFill>
          <a:ln w="6350">
            <a:solidFill>
              <a:srgbClr val="bfbfb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Rectangle 7" hidden="1"/>
          <p:cNvSpPr/>
          <p:nvPr/>
        </p:nvSpPr>
        <p:spPr>
          <a:xfrm>
            <a:off x="371880" y="374760"/>
            <a:ext cx="11447640" cy="6107400"/>
          </a:xfrm>
          <a:prstGeom prst="rect">
            <a:avLst/>
          </a:prstGeom>
          <a:solidFill>
            <a:schemeClr val="bg2"/>
          </a:solidFill>
          <a:ln w="635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Rectangle 18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blipFill rotWithShape="0">
            <a:blip r:embed="rId2">
              <a:alphaModFix amt="40000"/>
            </a:blip>
            <a:srcRect/>
            <a:tile tx="2423520" ty="2262330" sx="100000" sy="100000" algn="tl"/>
          </a:blip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Rectangle 22"/>
          <p:cNvSpPr/>
          <p:nvPr/>
        </p:nvSpPr>
        <p:spPr>
          <a:xfrm>
            <a:off x="1307880" y="1267560"/>
            <a:ext cx="9575640" cy="4307400"/>
          </a:xfrm>
          <a:prstGeom prst="rect">
            <a:avLst/>
          </a:prstGeom>
          <a:solidFill>
            <a:schemeClr val="tx1"/>
          </a:solidFill>
          <a:ln w="6350">
            <a:solidFill>
              <a:srgbClr val="ffffff"/>
            </a:solidFill>
            <a:round/>
          </a:ln>
          <a:effectLst>
            <a:outerShdw algn="ctr" blurRad="63360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ectangle 23"/>
          <p:cNvSpPr/>
          <p:nvPr/>
        </p:nvSpPr>
        <p:spPr>
          <a:xfrm>
            <a:off x="1447920" y="1411560"/>
            <a:ext cx="9295560" cy="4034160"/>
          </a:xfrm>
          <a:prstGeom prst="rect">
            <a:avLst/>
          </a:prstGeom>
          <a:solidFill>
            <a:schemeClr val="bg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Rectangle 29"/>
          <p:cNvSpPr/>
          <p:nvPr/>
        </p:nvSpPr>
        <p:spPr>
          <a:xfrm>
            <a:off x="5135760" y="1267560"/>
            <a:ext cx="1919520" cy="730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algn="t" blurRad="50760" dir="5400000" dist="12600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22" name="Groupe 30"/>
          <p:cNvGrpSpPr/>
          <p:nvPr/>
        </p:nvGrpSpPr>
        <p:grpSpPr>
          <a:xfrm>
            <a:off x="5249880" y="1267560"/>
            <a:ext cx="1692000" cy="645480"/>
            <a:chOff x="5249880" y="1267560"/>
            <a:chExt cx="1692000" cy="645480"/>
          </a:xfrm>
        </p:grpSpPr>
        <p:cxnSp>
          <p:nvCxnSpPr>
            <p:cNvPr id="23" name="Connecteur droit 31"/>
            <p:cNvCxnSpPr/>
            <p:nvPr/>
          </p:nvCxnSpPr>
          <p:spPr>
            <a:xfrm>
              <a:off x="524988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4" name="Connecteur droit 32"/>
            <p:cNvCxnSpPr/>
            <p:nvPr/>
          </p:nvCxnSpPr>
          <p:spPr>
            <a:xfrm>
              <a:off x="6941520" y="1267560"/>
              <a:ext cx="720" cy="64080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  <p:cxnSp>
          <p:nvCxnSpPr>
            <p:cNvPr id="25" name="Connecteur droit 33"/>
            <p:cNvCxnSpPr/>
            <p:nvPr/>
          </p:nvCxnSpPr>
          <p:spPr>
            <a:xfrm>
              <a:off x="5249880" y="1912680"/>
              <a:ext cx="1692360" cy="720"/>
            </a:xfrm>
            <a:prstGeom prst="straightConnector1">
              <a:avLst/>
            </a:prstGeom>
            <a:ln w="0">
              <a:solidFill>
                <a:srgbClr val="ffffff"/>
              </a:solidFill>
            </a:ln>
          </p:spPr>
        </p:cxn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63480" y="2094480"/>
            <a:ext cx="9070200" cy="25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83000"/>
              </a:lnSpc>
              <a:buNone/>
              <a:tabLst>
                <a:tab algn="l" pos="0"/>
              </a:tabLst>
            </a:pPr>
            <a:r>
              <a:rPr b="0" lang="fr-FR" sz="7200" spc="-99" strike="noStrike" u="none" cap="all">
                <a:solidFill>
                  <a:schemeClr val="lt1"/>
                </a:solidFill>
                <a:effectLst/>
                <a:uFillTx/>
                <a:latin typeface="Century Gothic"/>
              </a:rPr>
              <a:t>Modifiez le style du titre</a:t>
            </a:r>
            <a:endParaRPr b="0" lang="fr-FR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563480" y="4682160"/>
            <a:ext cx="9070200" cy="456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100000"/>
              </a:lnSpc>
              <a:spcBef>
                <a:spcPts val="901"/>
              </a:spcBef>
              <a:buNone/>
              <a:tabLst>
                <a:tab algn="l" pos="0"/>
              </a:tabLst>
            </a:pPr>
            <a:r>
              <a:rPr b="0" lang="fr-FR" sz="16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Modifiez les styles du texte du masque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4"/>
          </p:nvPr>
        </p:nvSpPr>
        <p:spPr>
          <a:xfrm>
            <a:off x="5321880" y="1344600"/>
            <a:ext cx="1553760" cy="52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algn="l" pos="0"/>
              </a:tabLst>
              <a:def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300" strike="noStrike" u="none">
                <a:solidFill>
                  <a:schemeClr val="dk2"/>
                </a:solidFill>
                <a:effectLst/>
                <a:uFillTx/>
                <a:latin typeface="Century Gothic"/>
              </a:rPr>
              <a:t>&lt;date/heure&gt;</a:t>
            </a:r>
            <a:endParaRPr b="0" lang="fr-FR" sz="13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5"/>
          </p:nvPr>
        </p:nvSpPr>
        <p:spPr>
          <a:xfrm>
            <a:off x="1454040" y="5212080"/>
            <a:ext cx="590616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b="0" lang="fr-F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6"/>
          </p:nvPr>
        </p:nvSpPr>
        <p:spPr>
          <a:xfrm>
            <a:off x="8604360" y="5212080"/>
            <a:ext cx="2111400" cy="2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1D91E5F-A8F9-4323-B078-6B259792A6A4}" type="slidenum">
              <a:rPr b="0" lang="fr-FR" sz="1000" strike="noStrike" u="none">
                <a:solidFill>
                  <a:schemeClr val="lt2"/>
                </a:solidFill>
                <a:effectLst/>
                <a:uFillTx/>
                <a:latin typeface="Century Gothic"/>
              </a:rPr>
              <a:t>&lt;numéro&gt;</a:t>
            </a:fld>
            <a:endParaRPr b="0" lang="fr-F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18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ZoneTexte 3"/>
          <p:cNvSpPr/>
          <p:nvPr/>
        </p:nvSpPr>
        <p:spPr>
          <a:xfrm>
            <a:off x="3252240" y="2110680"/>
            <a:ext cx="5451120" cy="23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4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Réunion du comité de pilotage</a:t>
            </a:r>
            <a:endParaRPr b="0" lang="fr-FR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fr-FR" sz="32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Beemo</a:t>
            </a:r>
            <a:endParaRPr b="0" lang="fr-F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Image 4" descr=""/>
          <p:cNvPicPr/>
          <p:nvPr/>
        </p:nvPicPr>
        <p:blipFill>
          <a:blip r:embed="rId1"/>
          <a:stretch/>
        </p:blipFill>
        <p:spPr>
          <a:xfrm>
            <a:off x="1872720" y="4515120"/>
            <a:ext cx="2474280" cy="53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8" name="Rectangle 6"/>
          <p:cNvSpPr/>
          <p:nvPr/>
        </p:nvSpPr>
        <p:spPr>
          <a:xfrm>
            <a:off x="5294520" y="4581360"/>
            <a:ext cx="15883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fr-FR" sz="20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Le 20/11/2024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9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Ordre du jour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Parchemin vertical 3"/>
          <p:cNvSpPr/>
          <p:nvPr/>
        </p:nvSpPr>
        <p:spPr>
          <a:xfrm>
            <a:off x="2519280" y="1481760"/>
            <a:ext cx="7152480" cy="4361760"/>
          </a:xfrm>
          <a:prstGeom prst="verticalScroll">
            <a:avLst>
              <a:gd name="adj" fmla="val 1250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Décision du COPIL précèdent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l’avancement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Vue d’ensemble sur la performance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budget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du planning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Revue des risques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002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Evolution des KPIs de projet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Validation des demandes de changement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Questions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buClr>
                <a:srgbClr val="129e00"/>
              </a:buClr>
              <a:buFont typeface="Arial"/>
              <a:buChar char="•"/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0" y="-2592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50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Diagramme de Gantt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" descr=""/>
          <p:cNvPicPr/>
          <p:nvPr/>
        </p:nvPicPr>
        <p:blipFill>
          <a:blip r:embed="rId1"/>
          <a:stretch/>
        </p:blipFill>
        <p:spPr>
          <a:xfrm>
            <a:off x="292680" y="1225440"/>
            <a:ext cx="11720160" cy="447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Revue du Budget simplifiée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Graphique 5"/>
          <p:cNvGraphicFramePr/>
          <p:nvPr/>
        </p:nvGraphicFramePr>
        <p:xfrm>
          <a:off x="1645560" y="873720"/>
          <a:ext cx="8127360" cy="504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½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ZoneTexte 6"/>
          <p:cNvSpPr/>
          <p:nvPr/>
        </p:nvSpPr>
        <p:spPr>
          <a:xfrm>
            <a:off x="1085760" y="6187320"/>
            <a:ext cx="5165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1" name="Image 2" descr=""/>
          <p:cNvPicPr/>
          <p:nvPr/>
        </p:nvPicPr>
        <p:blipFill>
          <a:blip r:embed="rId1"/>
          <a:stretch/>
        </p:blipFill>
        <p:spPr>
          <a:xfrm>
            <a:off x="1281600" y="1097280"/>
            <a:ext cx="7983360" cy="414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Performance de projet : Analyse de la valeur acquise 2/2 *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ZoneTexte 6"/>
          <p:cNvSpPr/>
          <p:nvPr/>
        </p:nvSpPr>
        <p:spPr>
          <a:xfrm>
            <a:off x="819720" y="6469560"/>
            <a:ext cx="61048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Cf ‘’Rapport de suivi du budget’’ pour plus de détails 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2" descr=""/>
          <p:cNvPicPr/>
          <p:nvPr/>
        </p:nvPicPr>
        <p:blipFill>
          <a:blip r:embed="rId1"/>
          <a:stretch/>
        </p:blipFill>
        <p:spPr>
          <a:xfrm>
            <a:off x="1562040" y="1678680"/>
            <a:ext cx="8257320" cy="3755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ZoneTexte 2"/>
          <p:cNvSpPr/>
          <p:nvPr/>
        </p:nvSpPr>
        <p:spPr>
          <a:xfrm>
            <a:off x="963360" y="6046560"/>
            <a:ext cx="6555960" cy="33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fr-FR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*cf ‘’</a:t>
            </a:r>
            <a:r>
              <a:rPr b="0" lang="fr-BE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Registre des risques’’ pour plus de détails</a:t>
            </a:r>
            <a:endParaRPr b="0" lang="fr-F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Revue des risques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Image 4" descr=""/>
          <p:cNvPicPr/>
          <p:nvPr/>
        </p:nvPicPr>
        <p:blipFill>
          <a:blip r:embed="rId1"/>
          <a:stretch/>
        </p:blipFill>
        <p:spPr>
          <a:xfrm>
            <a:off x="871560" y="1000080"/>
            <a:ext cx="10448280" cy="485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0" name="Tableau 8"/>
          <p:cNvGraphicFramePr/>
          <p:nvPr/>
        </p:nvGraphicFramePr>
        <p:xfrm>
          <a:off x="681480" y="1239120"/>
          <a:ext cx="11134080" cy="2928240"/>
        </p:xfrm>
        <a:graphic>
          <a:graphicData uri="http://schemas.openxmlformats.org/drawingml/2006/table">
            <a:tbl>
              <a:tblPr/>
              <a:tblGrid>
                <a:gridCol w="2863440"/>
                <a:gridCol w="1594440"/>
                <a:gridCol w="2573280"/>
                <a:gridCol w="1492920"/>
                <a:gridCol w="2610360"/>
              </a:tblGrid>
              <a:tr h="55188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KPI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Cible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Etat actuel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Tendance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fr-FR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Commentaire</a:t>
                      </a:r>
                      <a:endParaRPr b="0" lang="fr-F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914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Budget de mise en place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52000 K euros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 (Réel aligné sur Planifié)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Stable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720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Sur la bonne voie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200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1264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Retour sur investissement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1 an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En bonne voie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69408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internes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90%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Amélioration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Confiance grandissante dans les avantages du projet après les tests communs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  <a:tr h="578160">
                <a:tc>
                  <a:txBody>
                    <a:bodyPr lIns="68400" rIns="68400" anchor="t">
                      <a:noAutofit/>
                    </a:bodyPr>
                    <a:p>
                      <a:pPr defTabSz="914400">
                        <a:lnSpc>
                          <a:spcPct val="250000"/>
                        </a:lnSpc>
                      </a:pPr>
                      <a:r>
                        <a:rPr b="1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Satisfaction clients externes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anchor="t">
                      <a:noAutofit/>
                    </a:bodyPr>
                    <a:p>
                      <a:pPr algn="ctr" defTabSz="914400">
                        <a:lnSpc>
                          <a:spcPct val="25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Arial"/>
                        </a:rPr>
                        <a:t>100%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Satisfaisant 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(Projet dans les délais)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Stable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fr-FR" sz="13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A mesurer au premier trimestre 2025</a:t>
                      </a:r>
                      <a:endParaRPr b="0" lang="fr-F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70ad47"/>
                      </a:solidFill>
                      <a:prstDash val="solid"/>
                    </a:lnL>
                    <a:lnR w="12240">
                      <a:solidFill>
                        <a:srgbClr val="70ad47"/>
                      </a:solidFill>
                      <a:prstDash val="solid"/>
                    </a:lnR>
                    <a:lnT w="12240">
                      <a:solidFill>
                        <a:srgbClr val="70ad47"/>
                      </a:solidFill>
                      <a:prstDash val="solid"/>
                    </a:lnT>
                    <a:lnB w="12240">
                      <a:solidFill>
                        <a:srgbClr val="70ad47"/>
                      </a:solidFill>
                      <a:prstDash val="solid"/>
                    </a:lnB>
                    <a:solidFill>
                      <a:schemeClr val="accent6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01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Evolution des KPIs du projet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/>
          </p:nvPr>
        </p:nvSpPr>
        <p:spPr>
          <a:xfrm>
            <a:off x="674640" y="1575720"/>
            <a:ext cx="10678680" cy="39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20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Points en suspens et les décisions à prendre</a:t>
            </a:r>
            <a:endParaRPr b="0" lang="fr-F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10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Décisions à prendre / Arbitrage à faire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" name="Diagram1"/>
          <p:cNvGraphicFramePr/>
          <p:nvPr>
            <p:extLst>
              <p:ext uri="{D42A27DB-BD31-4B8C-83A1-F6EECF244321}">
                <p14:modId xmlns:p14="http://schemas.microsoft.com/office/powerpoint/2010/main" val="4184593803"/>
              </p:ext>
            </p:extLst>
          </p:nvPr>
        </p:nvGraphicFramePr>
        <p:xfrm>
          <a:off x="1073160" y="2208240"/>
          <a:ext cx="8441280" cy="2067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Questions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8" name="Picture 2" descr="Questionnement Png Transparent Images – Free PNG Images Vector, PSD,  Clipart, Templates"/>
          <p:cNvPicPr/>
          <p:nvPr/>
        </p:nvPicPr>
        <p:blipFill>
          <a:blip r:embed="rId1"/>
          <a:stretch/>
        </p:blipFill>
        <p:spPr>
          <a:xfrm>
            <a:off x="1915200" y="2553480"/>
            <a:ext cx="2100960" cy="164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ZoneTexte 1"/>
          <p:cNvSpPr/>
          <p:nvPr/>
        </p:nvSpPr>
        <p:spPr>
          <a:xfrm>
            <a:off x="4632480" y="2914920"/>
            <a:ext cx="6434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L’équipe projet se fera un plaisir de répondre à toutes les questions, remarques et suggestions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/>
          </p:nvPr>
        </p:nvSpPr>
        <p:spPr>
          <a:xfrm>
            <a:off x="983880" y="2090160"/>
            <a:ext cx="6442920" cy="156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Prochaines réunions du comité de pilotage: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29e00"/>
              </a:buClr>
              <a:buFont typeface="Arial"/>
              <a:buChar char="•"/>
              <a:tabLst>
                <a:tab algn="l" pos="0"/>
              </a:tabLst>
            </a:pPr>
            <a:r>
              <a:rPr b="0" lang="fr-FR" sz="1800" strike="noStrike" u="none">
                <a:solidFill>
                  <a:schemeClr val="dk1"/>
                </a:solidFill>
                <a:effectLst/>
                <a:uFillTx/>
                <a:latin typeface="Candara"/>
              </a:rPr>
              <a:t>Le 29/03/2025</a:t>
            </a:r>
            <a:endParaRPr b="0" lang="fr-F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11"/>
          <p:cNvSpPr/>
          <p:nvPr/>
        </p:nvSpPr>
        <p:spPr>
          <a:xfrm>
            <a:off x="0" y="0"/>
            <a:ext cx="12216240" cy="898560"/>
          </a:xfrm>
          <a:prstGeom prst="rect">
            <a:avLst/>
          </a:prstGeom>
          <a:solidFill>
            <a:srgbClr val="62bd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fr-FR" sz="1800" strike="noStrike" u="non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title"/>
          </p:nvPr>
        </p:nvSpPr>
        <p:spPr>
          <a:xfrm>
            <a:off x="434880" y="198000"/>
            <a:ext cx="1126296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fr-FR" sz="2800" strike="noStrike" u="none">
                <a:solidFill>
                  <a:schemeClr val="lt1"/>
                </a:solidFill>
                <a:effectLst/>
                <a:uFillTx/>
                <a:latin typeface="Candara"/>
              </a:rPr>
              <a:t>Prochaines réunions</a:t>
            </a:r>
            <a:endParaRPr b="0" lang="fr-F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avon">
  <a:themeElements>
    <a:clrScheme name="Savon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0000"/>
                <a:lumMod val="105000"/>
              </a:schemeClr>
            </a:gs>
            <a:gs pos="100000">
              <a:schemeClr val="phClr">
                <a:tint val="65000"/>
                <a:lumMod val="100000"/>
              </a:schemeClr>
            </a:gs>
            <a:gs pos="100000">
              <a:schemeClr val="phClr">
                <a:tint val="70000"/>
                <a:lumMod val="100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0000"/>
              </a:schemeClr>
            </a:gs>
            <a:gs pos="50000">
              <a:schemeClr val="phClr">
                <a:shade val="99000"/>
                <a:lumMod val="100000"/>
              </a:schemeClr>
            </a:gs>
            <a:gs pos="100000">
              <a:schemeClr val="phClr">
                <a:shade val="98000"/>
                <a:lumMod val="100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  <a:shade val="100000"/>
              </a:schemeClr>
            </a:gs>
            <a:gs pos="100000">
              <a:schemeClr val="phClr">
                <a:tint val="100000"/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  <a:blipFill rotWithShape="1">
          <a:blip r:embed="rId1"/>
          <a:srcRect l="0" t="0" r="0" b="0"/>
          <a:tile tx="0" ty="0" sx="60000" sy="60000" flip="none" algn="tl"/>
        </a:blip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5D6F7AD-09FB-47AB-B353-D1D83850E3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21C94-EC06-4610-B8F0-A456DD28CD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2C0DB4D-BE53-4100-8A0D-CEFB2E48282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Conception de savon jardin</Template>
  <TotalTime>0</TotalTime>
  <Application>LibreOffice/25.2.5.2$Windows_X86_64 LibreOffice_project/03d19516eb2e1dd5d4ccd751a0d6f35f35e08022</Application>
  <AppVersion>15.0000</AppVersion>
  <Words>435</Words>
  <Paragraphs>97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2021-04-13T17:12:54Z</dcterms:created>
  <dc:creator/>
  <dc:description/>
  <dc:language>fr-FR</dc:language>
  <cp:lastModifiedBy/>
  <dcterms:modified xsi:type="dcterms:W3CDTF">2025-09-24T15:20:13Z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10</vt:i4>
  </property>
  <property fmtid="{D5CDD505-2E9C-101B-9397-08002B2CF9AE}" pid="4" name="PresentationFormat">
    <vt:lpwstr>Grand écran</vt:lpwstr>
  </property>
  <property fmtid="{D5CDD505-2E9C-101B-9397-08002B2CF9AE}" pid="5" name="Slides">
    <vt:i4>11</vt:i4>
  </property>
</Properties>
</file>