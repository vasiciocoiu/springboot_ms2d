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_rels/item3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_rels/theme1.xml.rels" ContentType="application/vnd.openxmlformats-package.relationships+xml"/>
  <Override PartName="/ppt/theme/_rels/theme2.xml.rels" ContentType="application/vnd.openxmlformats-package.relationships+xml"/>
  <Override PartName="/ppt/theme/_rels/theme3.xml.rels" ContentType="application/vnd.openxmlformats-package.relationships+xml"/>
  <Override PartName="/ppt/theme/theme23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1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1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Budget SAP30/CMRL à fin </a:t>
            </a: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Septembre</a:t>
            </a: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 2021</a:t>
            </a:r>
          </a:p>
        </c:rich>
      </c:tx>
      <c:layout>
        <c:manualLayout>
          <c:xMode val="edge"/>
          <c:yMode val="edge"/>
          <c:x val="0.217655135757629"/>
          <c:y val="0.131338380231396"/>
        </c:manualLayout>
      </c:layout>
      <c:overlay val="0"/>
      <c:spPr>
        <a:noFill/>
        <a:ln w="0">
          <a:noFill/>
        </a:ln>
      </c:spPr>
    </c:title>
    <c:autoTitleDeleted val="0"/>
    <c:plotArea>
      <c:layout>
        <c:manualLayout>
          <c:layoutTarget val="inner"/>
          <c:xMode val="edge"/>
          <c:yMode val="edge"/>
          <c:x val="0.171059042388271"/>
          <c:y val="0.247464647907442"/>
          <c:w val="0.745758958231829"/>
          <c:h val="0.59941436937580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nov-24</c:v>
                </c:pt>
              </c:strCache>
            </c:strRef>
          </c:tx>
          <c:spPr>
            <a:solidFill>
              <a:srgbClr val="a9d18e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5b9bd5"/>
              </a:solidFill>
              <a:ln w="0">
                <a:noFill/>
              </a:ln>
            </c:spPr>
          </c:dPt>
          <c:dPt>
            <c:idx val="1"/>
            <c:invertIfNegative val="0"/>
            <c:spPr>
              <a:gradFill>
                <a:gsLst>
                  <a:gs pos="0">
                    <a:srgbClr val="637e51"/>
                  </a:gs>
                  <a:gs pos="50000">
                    <a:srgbClr val="8db473"/>
                  </a:gs>
                  <a:gs pos="100000">
                    <a:srgbClr val="a7d588"/>
                  </a:gs>
                </a:gsLst>
                <a:lin ang="0"/>
              </a:gradFill>
              <a:ln w="0">
                <a:noFill/>
              </a:ln>
            </c:spPr>
          </c:dPt>
          <c:dPt>
            <c:idx val="2"/>
            <c:invertIfNegative val="0"/>
            <c:spPr>
              <a:gradFill>
                <a:gsLst>
                  <a:gs pos="0">
                    <a:srgbClr val="637e51"/>
                  </a:gs>
                  <a:gs pos="50000">
                    <a:srgbClr val="8db473"/>
                  </a:gs>
                  <a:gs pos="100000">
                    <a:srgbClr val="a7d588"/>
                  </a:gs>
                </a:gsLst>
                <a:lin ang="5400000"/>
              </a:gradFill>
              <a:ln w="0">
                <a:noFill/>
              </a:ln>
            </c:spPr>
          </c:dPt>
          <c:dLbls>
            <c:numFmt formatCode="General" sourceLinked="0"/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52000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26000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26000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197" strike="noStrike" u="none">
                    <a:solidFill>
                      <a:srgbClr val="404040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Total</c:v>
                </c:pt>
                <c:pt idx="1">
                  <c:v>Réel</c:v>
                </c:pt>
                <c:pt idx="2">
                  <c:v>Planifié à cette date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52000</c:v>
                </c:pt>
                <c:pt idx="1">
                  <c:v>26000</c:v>
                </c:pt>
                <c:pt idx="2">
                  <c:v>26000</c:v>
                </c:pt>
              </c:numCache>
            </c:numRef>
          </c:val>
        </c:ser>
        <c:gapWidth val="170"/>
        <c:overlap val="0"/>
        <c:axId val="46285939"/>
        <c:axId val="35394712"/>
      </c:barChart>
      <c:catAx>
        <c:axId val="46285939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35394712"/>
        <c:crosses val="autoZero"/>
        <c:auto val="1"/>
        <c:lblAlgn val="ctr"/>
        <c:lblOffset val="100"/>
        <c:noMultiLvlLbl val="0"/>
      </c:catAx>
      <c:valAx>
        <c:axId val="35394712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46285939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A7AA48-EB8C-4AF7-8412-422B2778D5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A43AC4EA-E59D-4075-8A5C-F8752B43D417}">
      <dgm:prSet phldrT="[Texte]" custT="1"/>
      <dgm:spPr>
        <a:solidFill>
          <a:schemeClr val="accent4"/>
        </a:solidFill>
      </dgm:spPr>
      <dgm:t>
        <a:bodyPr/>
        <a:lstStyle/>
        <a:p>
          <a:r>
            <a:rPr lang="fr-FR" sz="2000" dirty="0">
              <a:latin typeface="Candara" panose="020E0502030303020204" pitchFamily="34" charset="0"/>
            </a:rPr>
            <a:t>Décision 1</a:t>
          </a:r>
        </a:p>
      </dgm:t>
    </dgm:pt>
    <dgm:pt modelId="{5D7B530C-F80F-4323-9F8A-9F5CF826B180}" type="parTrans" cxnId="{6CD61F77-F0AE-42A3-BFB2-C3EDB4333E62}">
      <dgm:prSet/>
      <dgm:spPr/>
      <dgm:t>
        <a:bodyPr/>
        <a:lstStyle/>
        <a:p>
          <a:endParaRPr lang="fr-FR"/>
        </a:p>
      </dgm:t>
    </dgm:pt>
    <dgm:pt modelId="{8986592B-10E5-4262-8121-DAC13942CCFD}" type="sibTrans" cxnId="{6CD61F77-F0AE-42A3-BFB2-C3EDB4333E62}">
      <dgm:prSet/>
      <dgm:spPr/>
      <dgm:t>
        <a:bodyPr/>
        <a:lstStyle/>
        <a:p>
          <a:endParaRPr lang="fr-FR"/>
        </a:p>
      </dgm:t>
    </dgm:pt>
    <dgm:pt modelId="{6450055F-C20A-4B0E-8702-4034EF98DB43}">
      <dgm:prSet phldrT="[Texte]" custT="1"/>
      <dgm:spPr/>
      <dgm:t>
        <a:bodyPr/>
        <a:lstStyle/>
        <a:p>
          <a:r>
            <a:rPr lang="fr-FR" sz="1800" dirty="0"/>
            <a:t>Un management plus rigoureux du budget et une plus grande anticipation des problèmes à venir.</a:t>
          </a:r>
          <a:endParaRPr lang="fr-FR" sz="1800" dirty="0">
            <a:latin typeface="Candara" panose="020E0502030303020204" pitchFamily="34" charset="0"/>
          </a:endParaRPr>
        </a:p>
      </dgm:t>
    </dgm:pt>
    <dgm:pt modelId="{5BC32DFF-CAE1-4703-9A7B-DC1C36FD39DB}" type="parTrans" cxnId="{E1BA01F6-4A48-48D1-9B96-E57A23FBAB62}">
      <dgm:prSet/>
      <dgm:spPr/>
      <dgm:t>
        <a:bodyPr/>
        <a:lstStyle/>
        <a:p>
          <a:endParaRPr lang="fr-FR"/>
        </a:p>
      </dgm:t>
    </dgm:pt>
    <dgm:pt modelId="{348822F2-AAD6-4B10-A3F0-1AB310C29064}" type="sibTrans" cxnId="{E1BA01F6-4A48-48D1-9B96-E57A23FBAB62}">
      <dgm:prSet/>
      <dgm:spPr/>
      <dgm:t>
        <a:bodyPr/>
        <a:lstStyle/>
        <a:p>
          <a:endParaRPr lang="fr-FR"/>
        </a:p>
      </dgm:t>
    </dgm:pt>
    <dgm:pt modelId="{DEDE1119-4F9B-4A73-A948-D3D777DC466A}" type="pres">
      <dgm:prSet presAssocID="{3BA7AA48-EB8C-4AF7-8412-422B2778D565}" presName="linear" presStyleCnt="0">
        <dgm:presLayoutVars>
          <dgm:animLvl val="lvl"/>
          <dgm:resizeHandles val="exact"/>
        </dgm:presLayoutVars>
      </dgm:prSet>
      <dgm:spPr/>
    </dgm:pt>
    <dgm:pt modelId="{91F29F1E-84C7-4ADA-A900-5997ADFA4490}" type="pres">
      <dgm:prSet presAssocID="{A43AC4EA-E59D-4075-8A5C-F8752B43D417}" presName="parentText" presStyleLbl="node1" presStyleIdx="0" presStyleCnt="1" custScaleY="75557" custLinFactNeighborX="226" custLinFactNeighborY="-5702">
        <dgm:presLayoutVars>
          <dgm:chMax val="0"/>
          <dgm:bulletEnabled val="1"/>
        </dgm:presLayoutVars>
      </dgm:prSet>
      <dgm:spPr/>
    </dgm:pt>
    <dgm:pt modelId="{6E9195F6-6A65-49A3-8115-C15240896B02}" type="pres">
      <dgm:prSet presAssocID="{A43AC4EA-E59D-4075-8A5C-F8752B43D417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AC19F91C-5199-48AF-97A9-F901CB561BD5}" type="presOf" srcId="{A43AC4EA-E59D-4075-8A5C-F8752B43D417}" destId="{91F29F1E-84C7-4ADA-A900-5997ADFA4490}" srcOrd="0" destOrd="0" presId="urn:microsoft.com/office/officeart/2005/8/layout/vList2"/>
    <dgm:cxn modelId="{6CD61F77-F0AE-42A3-BFB2-C3EDB4333E62}" srcId="{3BA7AA48-EB8C-4AF7-8412-422B2778D565}" destId="{A43AC4EA-E59D-4075-8A5C-F8752B43D417}" srcOrd="0" destOrd="0" parTransId="{5D7B530C-F80F-4323-9F8A-9F5CF826B180}" sibTransId="{8986592B-10E5-4262-8121-DAC13942CCFD}"/>
    <dgm:cxn modelId="{3A599478-5EE7-48E5-A46F-5B8CAAC46573}" type="presOf" srcId="{3BA7AA48-EB8C-4AF7-8412-422B2778D565}" destId="{DEDE1119-4F9B-4A73-A948-D3D777DC466A}" srcOrd="0" destOrd="0" presId="urn:microsoft.com/office/officeart/2005/8/layout/vList2"/>
    <dgm:cxn modelId="{591320DB-7864-45DA-A277-BB0A3FB96EB8}" type="presOf" srcId="{6450055F-C20A-4B0E-8702-4034EF98DB43}" destId="{6E9195F6-6A65-49A3-8115-C15240896B02}" srcOrd="0" destOrd="0" presId="urn:microsoft.com/office/officeart/2005/8/layout/vList2"/>
    <dgm:cxn modelId="{E1BA01F6-4A48-48D1-9B96-E57A23FBAB62}" srcId="{A43AC4EA-E59D-4075-8A5C-F8752B43D417}" destId="{6450055F-C20A-4B0E-8702-4034EF98DB43}" srcOrd="0" destOrd="0" parTransId="{5BC32DFF-CAE1-4703-9A7B-DC1C36FD39DB}" sibTransId="{348822F2-AAD6-4B10-A3F0-1AB310C29064}"/>
    <dgm:cxn modelId="{D049A35D-C8E9-45DC-8E52-9305568DF601}" type="presParOf" srcId="{DEDE1119-4F9B-4A73-A948-D3D777DC466A}" destId="{91F29F1E-84C7-4ADA-A900-5997ADFA4490}" srcOrd="0" destOrd="0" presId="urn:microsoft.com/office/officeart/2005/8/layout/vList2"/>
    <dgm:cxn modelId="{CEFBF7DA-1319-4EA0-8416-90BD61F18907}" type="presParOf" srcId="{DEDE1119-4F9B-4A73-A948-D3D777DC466A}" destId="{6E9195F6-6A65-49A3-8115-C15240896B02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F29F1E-84C7-4ADA-A900-5997ADFA4490}">
      <dsp:nvSpPr>
        <dsp:cNvPr id="0" name=""/>
        <dsp:cNvSpPr/>
      </dsp:nvSpPr>
      <dsp:spPr>
        <a:xfrm>
          <a:off x="0" y="0"/>
          <a:ext cx="8442000" cy="919377"/>
        </a:xfrm>
        <a:prstGeom prst="roundRect">
          <a:avLst/>
        </a:prstGeom>
        <a:solidFill>
          <a:schemeClr val="accent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Candara" panose="020E0502030303020204" pitchFamily="34" charset="0"/>
            </a:rPr>
            <a:t>Décision 1</a:t>
          </a:r>
        </a:p>
      </dsp:txBody>
      <dsp:txXfrm>
        <a:off x="44880" y="44880"/>
        <a:ext cx="8352240" cy="829617"/>
      </dsp:txXfrm>
    </dsp:sp>
    <dsp:sp modelId="{6E9195F6-6A65-49A3-8115-C15240896B02}">
      <dsp:nvSpPr>
        <dsp:cNvPr id="0" name=""/>
        <dsp:cNvSpPr/>
      </dsp:nvSpPr>
      <dsp:spPr>
        <a:xfrm>
          <a:off x="0" y="955670"/>
          <a:ext cx="8442000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803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800" kern="1200" dirty="0"/>
            <a:t>Un management plus rigoureux du budget et une plus grande anticipation des problèmes à venir.</a:t>
          </a:r>
          <a:endParaRPr lang="fr-FR" sz="1800" kern="1200" dirty="0">
            <a:latin typeface="Candara" panose="020E0502030303020204" pitchFamily="34" charset="0"/>
          </a:endParaRPr>
        </a:p>
      </dsp:txBody>
      <dsp:txXfrm>
        <a:off x="0" y="955670"/>
        <a:ext cx="8442000" cy="1076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 type="dt" idx="7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5"/>
          <p:cNvSpPr>
            <a:spLocks noGrp="1"/>
          </p:cNvSpPr>
          <p:nvPr>
            <p:ph type="ftr" idx="7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6"/>
          <p:cNvSpPr>
            <a:spLocks noGrp="1"/>
          </p:cNvSpPr>
          <p:nvPr>
            <p:ph type="sldNum" idx="7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4D21DBF-97E3-4740-8288-4C288F4DA28E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18A78E-77CA-4342-B841-260751655369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C7A202-4A06-4C90-B5A1-13C8F029404C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6763F2-8B22-4BE1-8243-506D0ADA7997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0729C6-13DF-4675-AFA2-AD479E22E082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L’idée est de suivre l’évolution des risques tout au long du projet (Criticité, mesures préventives et correctives)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5F889C-CE70-4947-8F60-EF2A354E0ED3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3B08C7-5696-4928-A6EC-DBB1BD0EFACC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950ADE-7C41-44BF-BCF0-844AC06A932C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4EB09D-75AA-4B2A-A5CF-0B233DAEA1CE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D059C0-8483-45B9-B7F1-7325EE0B8371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92B52F-2532-41C3-B609-AE849F41EC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77EEEAC-C8A5-4DE0-A019-C295D458ECD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Rectangle 13"/>
          <p:cNvSpPr/>
          <p:nvPr/>
        </p:nvSpPr>
        <p:spPr>
          <a:xfrm>
            <a:off x="9020520" y="237600"/>
            <a:ext cx="2925360" cy="6381720"/>
          </a:xfrm>
          <a:prstGeom prst="rect">
            <a:avLst/>
          </a:prstGeom>
          <a:solidFill>
            <a:schemeClr val="tx1"/>
          </a:solidFill>
          <a:ln cap="sq" w="6350">
            <a:solidFill>
              <a:srgbClr val="bfbfbf"/>
            </a:solidFill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Rectangle 8"/>
          <p:cNvSpPr/>
          <p:nvPr/>
        </p:nvSpPr>
        <p:spPr>
          <a:xfrm>
            <a:off x="9157680" y="374760"/>
            <a:ext cx="26510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9296280" y="603360"/>
            <a:ext cx="2431440" cy="164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228600" y="237600"/>
            <a:ext cx="8600400" cy="6381720"/>
          </a:xfrm>
          <a:prstGeom prst="rect">
            <a:avLst/>
          </a:prstGeom>
          <a:solidFill>
            <a:srgbClr val="80808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Cliquez sur l’icône pour ajouter une image</a:t>
            </a:r>
            <a:endParaRPr b="0" lang="fr-F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9296280" y="2286000"/>
            <a:ext cx="2431440" cy="35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7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8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9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E04EB80-ADA0-442B-9209-0CE93F42CE80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re et texte vertica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10057680" cy="393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10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11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B3A33F8-6D42-45DB-B04E-AEB9B0881B9D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re vertical et text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991720" y="762120"/>
            <a:ext cx="2361600" cy="525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762120"/>
            <a:ext cx="8076600" cy="525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13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14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5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B1589A4-585D-43AE-B5E0-92AE1827D715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re et contenu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10057680" cy="393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dt" idx="16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17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sldNum" idx="18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CBAD342-7533-48CC-B94C-5B5A4889EDDB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ux contenu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475416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370200" y="2103120"/>
            <a:ext cx="475416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19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20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21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4DADDB9-5080-42AD-A145-30548E1F517F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1069920" y="2074320"/>
            <a:ext cx="47541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1069920" y="2755800"/>
            <a:ext cx="4754160" cy="31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373440" y="2074320"/>
            <a:ext cx="47541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373440" y="2756520"/>
            <a:ext cx="4754160" cy="31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dt" idx="22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ftr" idx="23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8"/>
          <p:cNvSpPr>
            <a:spLocks noGrp="1"/>
          </p:cNvSpPr>
          <p:nvPr>
            <p:ph type="sldNum" idx="24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C550459-2F2D-49F3-8BBB-3F63F213BF4C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uniquem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dt" idx="25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ftr" idx="26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sldNum" idx="27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4D14A96-CE9F-4F8E-886B-4CC6AEC746E0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dt" idx="28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29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30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46CB2DD-F464-48A3-B767-A5CB83BD620F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3"/>
          <p:cNvSpPr/>
          <p:nvPr/>
        </p:nvSpPr>
        <p:spPr>
          <a:xfrm>
            <a:off x="234720" y="237600"/>
            <a:ext cx="863244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5"/>
          <p:cNvSpPr/>
          <p:nvPr/>
        </p:nvSpPr>
        <p:spPr>
          <a:xfrm>
            <a:off x="371880" y="374760"/>
            <a:ext cx="835236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9020520" y="237600"/>
            <a:ext cx="2925360" cy="63817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9296280" y="607320"/>
            <a:ext cx="2430000" cy="164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90560" y="704880"/>
            <a:ext cx="7562160" cy="514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9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9296280" y="2286000"/>
            <a:ext cx="2430000" cy="35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chemeClr val="dk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31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32"/>
          </p:nvPr>
        </p:nvSpPr>
        <p:spPr>
          <a:xfrm>
            <a:off x="3439080" y="6214680"/>
            <a:ext cx="518400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3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B921CEA-D46B-4D1A-8091-4CF57011C01D}" type="slidenum">
              <a: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Rectangle 10"/>
          <p:cNvSpPr/>
          <p:nvPr/>
        </p:nvSpPr>
        <p:spPr>
          <a:xfrm>
            <a:off x="9157680" y="374760"/>
            <a:ext cx="2651040" cy="6107400"/>
          </a:xfrm>
          <a:prstGeom prst="rect">
            <a:avLst/>
          </a:prstGeom>
          <a:noFill/>
          <a:ln cap="sq" w="6350">
            <a:solidFill>
              <a:srgbClr val="ffffff"/>
            </a:solidFill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02C01B7-7B7A-420A-97BF-469426EE04F5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95233F-17D8-4BC5-B4C5-03212EC806F8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ftr" idx="4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 type="sldNum" idx="4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A65287F-845A-4338-ACED-DA375399CA08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23C1D3B-4A40-4505-97F9-1D06A723B5DD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ftr" idx="4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sldNum" idx="4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5337910-7CA3-41A4-9746-600DA8B52ADF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ftr" idx="5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sldNum" idx="5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2A4D6B1-8CA6-48AD-9688-592A6BFDA212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ftr" idx="5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sldNum" idx="5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0382387-1135-4F80-8239-E9B5579EB0D0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1E69C66-E948-4CB7-A5E5-50141C1338E0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829B610-3710-427D-9A1B-9E9DB2C131E6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de 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5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50F39A6-F188-4711-A6C5-570B2B61E407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ftr" idx="6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6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71AD325-DE82-408D-9D13-F2A36ECD5FE3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6"/>
          <p:cNvSpPr>
            <a:spLocks noGrp="1"/>
          </p:cNvSpPr>
          <p:nvPr>
            <p:ph type="dt" idx="6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7"/>
          <p:cNvSpPr>
            <a:spLocks noGrp="1"/>
          </p:cNvSpPr>
          <p:nvPr>
            <p:ph type="ftr" idx="6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8"/>
          <p:cNvSpPr>
            <a:spLocks noGrp="1"/>
          </p:cNvSpPr>
          <p:nvPr>
            <p:ph type="sldNum" idx="6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47F4CCC-7C62-42BD-93A9-FEFA945AA86D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se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dt" idx="7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ftr" idx="7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 type="sldNum" idx="7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087AD8A-760A-4ED7-8907-3A45ADF0DC1F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5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>
              <a:alphaModFix amt="45000"/>
            </a:blip>
            <a:srcRect/>
            <a:tile tx="2423520" ty="2262330" sx="100000" sy="100000" algn="tl"/>
          </a:blip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9"/>
          <p:cNvSpPr/>
          <p:nvPr/>
        </p:nvSpPr>
        <p:spPr>
          <a:xfrm>
            <a:off x="1307880" y="1267560"/>
            <a:ext cx="9575640" cy="4307400"/>
          </a:xfrm>
          <a:prstGeom prst="rect">
            <a:avLst/>
          </a:prstGeom>
          <a:solidFill>
            <a:schemeClr val="tx1"/>
          </a:solidFill>
          <a:ln w="6350">
            <a:solidFill>
              <a:srgbClr val="ffffff"/>
            </a:solidFill>
            <a:round/>
          </a:ln>
          <a:effectLst>
            <a:outerShdw algn="ctr" blurRad="63360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10"/>
          <p:cNvSpPr/>
          <p:nvPr/>
        </p:nvSpPr>
        <p:spPr>
          <a:xfrm>
            <a:off x="1447920" y="1411560"/>
            <a:ext cx="9295560" cy="4034160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14"/>
          <p:cNvSpPr/>
          <p:nvPr/>
        </p:nvSpPr>
        <p:spPr>
          <a:xfrm>
            <a:off x="5135760" y="1267560"/>
            <a:ext cx="1919520" cy="730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algn="t" blurRad="50760" dir="5400000" dist="12600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e 3"/>
          <p:cNvGrpSpPr/>
          <p:nvPr/>
        </p:nvGrpSpPr>
        <p:grpSpPr>
          <a:xfrm>
            <a:off x="5249880" y="1267560"/>
            <a:ext cx="1692000" cy="645480"/>
            <a:chOff x="5249880" y="1267560"/>
            <a:chExt cx="1692000" cy="645480"/>
          </a:xfrm>
        </p:grpSpPr>
        <p:cxnSp>
          <p:nvCxnSpPr>
            <p:cNvPr id="7" name="Connecteur droit 16"/>
            <p:cNvCxnSpPr/>
            <p:nvPr/>
          </p:nvCxnSpPr>
          <p:spPr>
            <a:xfrm>
              <a:off x="524988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8" name="Connecteur droit 17"/>
            <p:cNvCxnSpPr/>
            <p:nvPr/>
          </p:nvCxnSpPr>
          <p:spPr>
            <a:xfrm>
              <a:off x="694152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9" name="Connecteur droit 18"/>
            <p:cNvCxnSpPr/>
            <p:nvPr/>
          </p:nvCxnSpPr>
          <p:spPr>
            <a:xfrm>
              <a:off x="5249880" y="1912680"/>
              <a:ext cx="1692360" cy="72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</p:grp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561680" y="2091240"/>
            <a:ext cx="9068040" cy="25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83000"/>
              </a:lnSpc>
              <a:buNone/>
              <a:tabLst>
                <a:tab algn="l" pos="0"/>
              </a:tabLst>
            </a:pPr>
            <a:r>
              <a:rPr b="0" lang="fr-FR" sz="7200" spc="-99" strike="noStrike" u="none" cap="all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1"/>
          </p:nvPr>
        </p:nvSpPr>
        <p:spPr>
          <a:xfrm>
            <a:off x="5318640" y="1341360"/>
            <a:ext cx="1553760" cy="52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 </a:t>
            </a:r>
            <a:endParaRPr b="0" lang="fr-FR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>
            <a:off x="1454040" y="5212080"/>
            <a:ext cx="590472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3"/>
          </p:nvPr>
        </p:nvSpPr>
        <p:spPr>
          <a:xfrm>
            <a:off x="8606880" y="5212080"/>
            <a:ext cx="211104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D1FA99C-988D-4430-8ACC-63BF1E7DBDF7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3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Rectangle 18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>
              <a:alphaModFix amt="40000"/>
            </a:blip>
            <a:srcRect/>
            <a:tile tx="2423520" ty="2262330" sx="100000" sy="100000" algn="tl"/>
          </a:blip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angle 22"/>
          <p:cNvSpPr/>
          <p:nvPr/>
        </p:nvSpPr>
        <p:spPr>
          <a:xfrm>
            <a:off x="1307880" y="1267560"/>
            <a:ext cx="9575640" cy="4307400"/>
          </a:xfrm>
          <a:prstGeom prst="rect">
            <a:avLst/>
          </a:prstGeom>
          <a:solidFill>
            <a:schemeClr val="tx1"/>
          </a:solidFill>
          <a:ln w="6350">
            <a:solidFill>
              <a:srgbClr val="ffffff"/>
            </a:solidFill>
            <a:round/>
          </a:ln>
          <a:effectLst>
            <a:outerShdw algn="ctr" blurRad="63360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angle 23"/>
          <p:cNvSpPr/>
          <p:nvPr/>
        </p:nvSpPr>
        <p:spPr>
          <a:xfrm>
            <a:off x="1447920" y="1411560"/>
            <a:ext cx="9295560" cy="4034160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Rectangle 29"/>
          <p:cNvSpPr/>
          <p:nvPr/>
        </p:nvSpPr>
        <p:spPr>
          <a:xfrm>
            <a:off x="5135760" y="1267560"/>
            <a:ext cx="1919520" cy="730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algn="t" blurRad="50760" dir="5400000" dist="12600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" name="Groupe 30"/>
          <p:cNvGrpSpPr/>
          <p:nvPr/>
        </p:nvGrpSpPr>
        <p:grpSpPr>
          <a:xfrm>
            <a:off x="5249880" y="1267560"/>
            <a:ext cx="1692000" cy="645480"/>
            <a:chOff x="5249880" y="1267560"/>
            <a:chExt cx="1692000" cy="645480"/>
          </a:xfrm>
        </p:grpSpPr>
        <p:cxnSp>
          <p:nvCxnSpPr>
            <p:cNvPr id="23" name="Connecteur droit 31"/>
            <p:cNvCxnSpPr/>
            <p:nvPr/>
          </p:nvCxnSpPr>
          <p:spPr>
            <a:xfrm>
              <a:off x="524988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24" name="Connecteur droit 32"/>
            <p:cNvCxnSpPr/>
            <p:nvPr/>
          </p:nvCxnSpPr>
          <p:spPr>
            <a:xfrm>
              <a:off x="694152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25" name="Connecteur droit 33"/>
            <p:cNvCxnSpPr/>
            <p:nvPr/>
          </p:nvCxnSpPr>
          <p:spPr>
            <a:xfrm>
              <a:off x="5249880" y="1912680"/>
              <a:ext cx="1692360" cy="72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63480" y="2094480"/>
            <a:ext cx="9070200" cy="25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83000"/>
              </a:lnSpc>
              <a:buNone/>
              <a:tabLst>
                <a:tab algn="l" pos="0"/>
              </a:tabLst>
            </a:pPr>
            <a:r>
              <a:rPr b="0" lang="fr-FR" sz="7200" spc="-99" strike="noStrike" u="none" cap="all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563480" y="4682160"/>
            <a:ext cx="907020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9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4"/>
          </p:nvPr>
        </p:nvSpPr>
        <p:spPr>
          <a:xfrm>
            <a:off x="5321880" y="1344600"/>
            <a:ext cx="1553760" cy="52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5"/>
          </p:nvPr>
        </p:nvSpPr>
        <p:spPr>
          <a:xfrm>
            <a:off x="1454040" y="5212080"/>
            <a:ext cx="590616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6"/>
          </p:nvPr>
        </p:nvSpPr>
        <p:spPr>
          <a:xfrm>
            <a:off x="8604360" y="5212080"/>
            <a:ext cx="211140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88F99CF-5BAC-45A8-A148-F0B8A8DB1A88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18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ZoneTexte 3"/>
          <p:cNvSpPr/>
          <p:nvPr/>
        </p:nvSpPr>
        <p:spPr>
          <a:xfrm>
            <a:off x="3252240" y="2110680"/>
            <a:ext cx="545112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fr-FR" sz="40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Réunion du comité de pilotage</a:t>
            </a:r>
            <a:endParaRPr b="0" lang="fr-F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fr-FR" sz="32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Beemo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6"/>
          <p:cNvSpPr/>
          <p:nvPr/>
        </p:nvSpPr>
        <p:spPr>
          <a:xfrm>
            <a:off x="5261760" y="4581360"/>
            <a:ext cx="16538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fr-FR" sz="20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Le 29/03/2025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9"/>
          <p:cNvSpPr/>
          <p:nvPr/>
        </p:nvSpPr>
        <p:spPr>
          <a:xfrm>
            <a:off x="0" y="-2592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5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Ordre du jour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archemin vertical 3"/>
          <p:cNvSpPr/>
          <p:nvPr/>
        </p:nvSpPr>
        <p:spPr>
          <a:xfrm>
            <a:off x="2519280" y="1481760"/>
            <a:ext cx="7152480" cy="4361760"/>
          </a:xfrm>
          <a:prstGeom prst="verticalScroll">
            <a:avLst>
              <a:gd name="adj" fmla="val 1250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Décision du COPIL précèdent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Vue d’ensemble sur l’avancement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Vue d’ensemble sur la performance de projet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du budget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du planning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des risques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Evolution des KPIs de projet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Décisions à prendre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Validation des demandes de changement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Questions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Prochaines réunions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 1"/>
          <p:cNvSpPr/>
          <p:nvPr/>
        </p:nvSpPr>
        <p:spPr>
          <a:xfrm>
            <a:off x="0" y="-2592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5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Diagramme de Gantt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1"/>
          <a:stretch/>
        </p:blipFill>
        <p:spPr>
          <a:xfrm>
            <a:off x="180000" y="1620000"/>
            <a:ext cx="11360160" cy="4338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Revue du Budget simplifiée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Graphique 5"/>
          <p:cNvGraphicFramePr/>
          <p:nvPr/>
        </p:nvGraphicFramePr>
        <p:xfrm>
          <a:off x="1645560" y="873720"/>
          <a:ext cx="8127360" cy="504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Analyse de la valeur acquise ½ *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ZoneTexte 6"/>
          <p:cNvSpPr/>
          <p:nvPr/>
        </p:nvSpPr>
        <p:spPr>
          <a:xfrm>
            <a:off x="1085760" y="6187320"/>
            <a:ext cx="51652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Cf ‘’Rapport de suivi du budget’’ pour plus de détails 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Image 3" descr=""/>
          <p:cNvPicPr/>
          <p:nvPr/>
        </p:nvPicPr>
        <p:blipFill>
          <a:blip r:embed="rId1"/>
          <a:stretch/>
        </p:blipFill>
        <p:spPr>
          <a:xfrm>
            <a:off x="1143000" y="1123920"/>
            <a:ext cx="9905400" cy="4609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Analyse de la valeur acquise 2/2 *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ZoneTexte 6"/>
          <p:cNvSpPr/>
          <p:nvPr/>
        </p:nvSpPr>
        <p:spPr>
          <a:xfrm>
            <a:off x="819720" y="6469560"/>
            <a:ext cx="6104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Cf ‘’Rapport de suivi du budget’’ pour plus de détails 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Image 3" descr=""/>
          <p:cNvPicPr/>
          <p:nvPr/>
        </p:nvPicPr>
        <p:blipFill>
          <a:blip r:embed="rId1"/>
          <a:stretch/>
        </p:blipFill>
        <p:spPr>
          <a:xfrm>
            <a:off x="2428920" y="1990800"/>
            <a:ext cx="7333560" cy="287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ZoneTexte 2"/>
          <p:cNvSpPr/>
          <p:nvPr/>
        </p:nvSpPr>
        <p:spPr>
          <a:xfrm>
            <a:off x="963360" y="6046560"/>
            <a:ext cx="655596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*cf ‘’</a:t>
            </a:r>
            <a:r>
              <a:rPr b="0" lang="fr-BE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Registre des risques’’ pour plus de détails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Revue des risques du projet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Image 4" descr=""/>
          <p:cNvPicPr/>
          <p:nvPr/>
        </p:nvPicPr>
        <p:blipFill>
          <a:blip r:embed="rId1"/>
          <a:stretch/>
        </p:blipFill>
        <p:spPr>
          <a:xfrm>
            <a:off x="871560" y="1000080"/>
            <a:ext cx="10448280" cy="485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9" name="Tableau 8"/>
          <p:cNvGraphicFramePr/>
          <p:nvPr/>
        </p:nvGraphicFramePr>
        <p:xfrm>
          <a:off x="681480" y="1239120"/>
          <a:ext cx="11134080" cy="3250800"/>
        </p:xfrm>
        <a:graphic>
          <a:graphicData uri="http://schemas.openxmlformats.org/drawingml/2006/table">
            <a:tbl>
              <a:tblPr/>
              <a:tblGrid>
                <a:gridCol w="2863440"/>
                <a:gridCol w="1594440"/>
                <a:gridCol w="2573280"/>
                <a:gridCol w="1492920"/>
                <a:gridCol w="2610360"/>
              </a:tblGrid>
              <a:tr h="5518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KPI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Cible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Etat actuel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Tendance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Commentaire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914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Budget d’achat de matériaux et parametrage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152000 K euros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Non satisfaisant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 (Réel supérieur à la valeur Planifié)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Dégradation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Cout du marché a augmenté du a l’inflation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1264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Retour sur investissement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1 an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En bonne voie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6940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Satisfaction clients internes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90%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Confiance grandissante dans les avantages du projet après les tests communs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78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Satisfaction clients externes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80%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Instable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Dut au cout non anticipé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00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Evolution des KPIs du projet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/>
          </p:nvPr>
        </p:nvSpPr>
        <p:spPr>
          <a:xfrm>
            <a:off x="674640" y="1575720"/>
            <a:ext cx="10678680" cy="39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Points en suspens et les décisions à prendre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Décisions à prendre / Arbitrage à faire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2836595500"/>
              </p:ext>
            </p:extLst>
          </p:nvPr>
        </p:nvGraphicFramePr>
        <p:xfrm>
          <a:off x="1073160" y="2208240"/>
          <a:ext cx="8441280" cy="2067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Questions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" descr="Questionnement Png Transparent Images – Free PNG Images Vector, PSD,  Clipart, Templates"/>
          <p:cNvPicPr/>
          <p:nvPr/>
        </p:nvPicPr>
        <p:blipFill>
          <a:blip r:embed="rId1"/>
          <a:stretch/>
        </p:blipFill>
        <p:spPr>
          <a:xfrm>
            <a:off x="1915200" y="2553480"/>
            <a:ext cx="2100960" cy="164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ZoneTexte 1"/>
          <p:cNvSpPr/>
          <p:nvPr/>
        </p:nvSpPr>
        <p:spPr>
          <a:xfrm>
            <a:off x="4632480" y="2914920"/>
            <a:ext cx="6434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L’équipe projet se fera un plaisir de répondre à toutes les questions, remarques et suggestions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/>
          </p:nvPr>
        </p:nvSpPr>
        <p:spPr>
          <a:xfrm>
            <a:off x="983880" y="2090160"/>
            <a:ext cx="6442920" cy="156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Prochaines réunions du comité de pilotage: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29e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Le 29/08/2025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Prochaines réunions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5D6F7AD-09FB-47AB-B353-D1D83850E3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21C94-EC06-4610-B8F0-A456DD28CD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2C0DB4D-BE53-4100-8A0D-CEFB2E48282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Conception de savon jardin</Template>
  <TotalTime>3</TotalTime>
  <Application>LibreOffice/25.2.5.2$Windows_X86_64 LibreOffice_project/03d19516eb2e1dd5d4ccd751a0d6f35f35e08022</Application>
  <AppVersion>15.0000</AppVersion>
  <Words>450</Words>
  <Paragraphs>97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2021-04-13T17:12:54Z</dcterms:created>
  <dc:creator/>
  <dc:description/>
  <dc:language>fr-FR</dc:language>
  <cp:lastModifiedBy/>
  <dcterms:modified xsi:type="dcterms:W3CDTF">2025-09-24T15:19:09Z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10</vt:i4>
  </property>
  <property fmtid="{D5CDD505-2E9C-101B-9397-08002B2CF9AE}" pid="4" name="PresentationFormat">
    <vt:lpwstr>Grand écran</vt:lpwstr>
  </property>
  <property fmtid="{D5CDD505-2E9C-101B-9397-08002B2CF9AE}" pid="5" name="Slides">
    <vt:i4>11</vt:i4>
  </property>
</Properties>
</file>