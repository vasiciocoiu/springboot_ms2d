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1.xml.rels" ContentType="application/vnd.openxmlformats-package.relationships+xml"/>
  <Override PartName="/customXml/_rels/item2.xml.rels" ContentType="application/vnd.openxmlformats-package.relationships+xml"/>
  <Override PartName="/customXml/_rels/item3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charts/chart1.xml" ContentType="application/vnd.openxmlformats-officedocument.drawingml.char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2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_rels/theme1.xml.rels" ContentType="application/vnd.openxmlformats-package.relationships+xml"/>
  <Override PartName="/ppt/theme/_rels/theme2.xml.rels" ContentType="application/vnd.openxmlformats-package.relationships+xml"/>
  <Override PartName="/ppt/theme/_rels/theme3.xml.rels" ContentType="application/vnd.openxmlformats-package.relationships+xml"/>
  <Override PartName="/ppt/theme/theme23.xml" ContentType="application/vnd.openxmlformats-officedocument.theme+xml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1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6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1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1" lang="en-US" sz="1862" strike="noStrike" u="none">
                <a:solidFill>
                  <a:srgbClr val="548235"/>
                </a:solidFill>
                <a:uFillTx/>
                <a:latin typeface="Calibri"/>
              </a:rPr>
              <a:t>Budget SAP30/CMRL à fin </a:t>
            </a:r>
            <a:r>
              <a:rPr b="1" lang="en-US" sz="1862" strike="noStrike" u="none">
                <a:solidFill>
                  <a:srgbClr val="548235"/>
                </a:solidFill>
                <a:uFillTx/>
                <a:latin typeface="Calibri"/>
              </a:rPr>
              <a:t>Aout</a:t>
            </a:r>
            <a:r>
              <a:rPr b="1" lang="en-US" sz="1862" strike="noStrike" u="none">
                <a:solidFill>
                  <a:srgbClr val="548235"/>
                </a:solidFill>
                <a:uFillTx/>
                <a:latin typeface="Calibri"/>
              </a:rPr>
              <a:t> 2025</a:t>
            </a:r>
          </a:p>
        </c:rich>
      </c:tx>
      <c:layout>
        <c:manualLayout>
          <c:xMode val="edge"/>
          <c:yMode val="edge"/>
          <c:x val="0.21756655002879"/>
          <c:y val="0.131338380231396"/>
        </c:manualLayout>
      </c:layout>
      <c:overlay val="0"/>
      <c:spPr>
        <a:noFill/>
        <a:ln w="0">
          <a:noFill/>
        </a:ln>
      </c:spPr>
    </c:title>
    <c:autoTitleDeleted val="0"/>
    <c:plotArea>
      <c:layout>
        <c:manualLayout>
          <c:layoutTarget val="inner"/>
          <c:xMode val="edge"/>
          <c:yMode val="edge"/>
          <c:x val="0.171059042388271"/>
          <c:y val="0.247464647907442"/>
          <c:w val="0.745758958231829"/>
          <c:h val="0.59941436937580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nov-24</c:v>
                </c:pt>
              </c:strCache>
            </c:strRef>
          </c:tx>
          <c:spPr>
            <a:solidFill>
              <a:srgbClr val="a9d18e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5b9bd5"/>
              </a:solidFill>
              <a:ln w="0">
                <a:noFill/>
              </a:ln>
            </c:spPr>
          </c:dPt>
          <c:dPt>
            <c:idx val="1"/>
            <c:invertIfNegative val="0"/>
            <c:spPr>
              <a:gradFill>
                <a:gsLst>
                  <a:gs pos="0">
                    <a:srgbClr val="637e51"/>
                  </a:gs>
                  <a:gs pos="50000">
                    <a:srgbClr val="8db473"/>
                  </a:gs>
                  <a:gs pos="100000">
                    <a:srgbClr val="a7d588"/>
                  </a:gs>
                </a:gsLst>
                <a:lin ang="0"/>
              </a:gradFill>
              <a:ln w="0">
                <a:noFill/>
              </a:ln>
            </c:spPr>
          </c:dPt>
          <c:dPt>
            <c:idx val="2"/>
            <c:invertIfNegative val="0"/>
            <c:spPr>
              <a:gradFill>
                <a:gsLst>
                  <a:gs pos="0">
                    <a:srgbClr val="637e51"/>
                  </a:gs>
                  <a:gs pos="50000">
                    <a:srgbClr val="8db473"/>
                  </a:gs>
                  <a:gs pos="100000">
                    <a:srgbClr val="a7d588"/>
                  </a:gs>
                </a:gsLst>
                <a:lin ang="5400000"/>
              </a:gradFill>
              <a:ln w="0">
                <a:noFill/>
              </a:ln>
            </c:spPr>
          </c:dPt>
          <c:dLbls>
            <c:numFmt formatCode="General" sourceLinked="0"/>
            <c:dLbl>
              <c:idx val="0"/>
              <c:numFmt formatCode="General" sourceLinked="0"/>
              <c:txPr>
                <a:bodyPr wrap="squar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Calibri"/>
                    </a:defRPr>
                  </a:pPr>
                </a:p>
              </c:txPr>
              <c:tx>
                <c:rich>
                  <a:bodyPr/>
                  <a:p>
                    <a:r>
                      <a:rPr b="0" lang="en-US" sz="1197" strike="noStrike" u="none">
                        <a:solidFill>
                          <a:srgbClr val="404040"/>
                        </a:solidFill>
                        <a:uFillTx/>
                        <a:latin typeface="Calibri"/>
                      </a:rPr>
                      <a:t>592000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General" sourceLinked="0"/>
              <c:txPr>
                <a:bodyPr wrap="squar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Calibri"/>
                    </a:defRPr>
                  </a:pPr>
                </a:p>
              </c:txPr>
              <c:tx>
                <c:rich>
                  <a:bodyPr/>
                  <a:p>
                    <a:r>
                      <a:rPr b="0" lang="en-US" sz="1197" strike="noStrike" u="none">
                        <a:solidFill>
                          <a:srgbClr val="404040"/>
                        </a:solidFill>
                        <a:uFillTx/>
                        <a:latin typeface="Calibri"/>
                      </a:rPr>
                      <a:t>304000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General" sourceLinked="0"/>
              <c:txPr>
                <a:bodyPr wrap="squar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Calibri"/>
                    </a:defRPr>
                  </a:pPr>
                </a:p>
              </c:txPr>
              <c:tx>
                <c:rich>
                  <a:bodyPr/>
                  <a:p>
                    <a:r>
                      <a:rPr b="0" lang="en-US" sz="1197" strike="noStrike" u="none">
                        <a:solidFill>
                          <a:srgbClr val="404040"/>
                        </a:solidFill>
                        <a:uFillTx/>
                        <a:latin typeface="Calibri"/>
                      </a:rPr>
                      <a:t>28000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197" strike="noStrike" u="none">
                    <a:solidFill>
                      <a:srgbClr val="404040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Total</c:v>
                </c:pt>
                <c:pt idx="1">
                  <c:v>Réel</c:v>
                </c:pt>
                <c:pt idx="2">
                  <c:v>Planifié à cette date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592000</c:v>
                </c:pt>
                <c:pt idx="1">
                  <c:v>304000</c:v>
                </c:pt>
                <c:pt idx="2">
                  <c:v>280000</c:v>
                </c:pt>
              </c:numCache>
            </c:numRef>
          </c:val>
        </c:ser>
        <c:gapWidth val="170"/>
        <c:overlap val="0"/>
        <c:axId val="15613937"/>
        <c:axId val="85868828"/>
      </c:barChart>
      <c:catAx>
        <c:axId val="15613937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85868828"/>
        <c:crosses val="autoZero"/>
        <c:auto val="1"/>
        <c:lblAlgn val="ctr"/>
        <c:lblOffset val="100"/>
        <c:noMultiLvlLbl val="0"/>
      </c:catAx>
      <c:valAx>
        <c:axId val="85868828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15613937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197" strike="noStrike" u="none">
              <a:solidFill>
                <a:srgbClr val="595959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A7AA48-EB8C-4AF7-8412-422B2778D56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A43AC4EA-E59D-4075-8A5C-F8752B43D417}">
      <dgm:prSet phldrT="[Texte]" custT="1"/>
      <dgm:spPr>
        <a:solidFill>
          <a:schemeClr val="accent4"/>
        </a:solidFill>
      </dgm:spPr>
      <dgm:t>
        <a:bodyPr/>
        <a:lstStyle/>
        <a:p>
          <a:r>
            <a:rPr lang="fr-FR" sz="2000" dirty="0">
              <a:latin typeface="Candara" panose="020E0502030303020204" pitchFamily="34" charset="0"/>
            </a:rPr>
            <a:t>Décision 1</a:t>
          </a:r>
        </a:p>
      </dgm:t>
    </dgm:pt>
    <dgm:pt modelId="{5D7B530C-F80F-4323-9F8A-9F5CF826B180}" type="parTrans" cxnId="{6CD61F77-F0AE-42A3-BFB2-C3EDB4333E62}">
      <dgm:prSet/>
      <dgm:spPr/>
      <dgm:t>
        <a:bodyPr/>
        <a:lstStyle/>
        <a:p>
          <a:endParaRPr lang="fr-FR"/>
        </a:p>
      </dgm:t>
    </dgm:pt>
    <dgm:pt modelId="{8986592B-10E5-4262-8121-DAC13942CCFD}" type="sibTrans" cxnId="{6CD61F77-F0AE-42A3-BFB2-C3EDB4333E62}">
      <dgm:prSet/>
      <dgm:spPr/>
      <dgm:t>
        <a:bodyPr/>
        <a:lstStyle/>
        <a:p>
          <a:endParaRPr lang="fr-FR"/>
        </a:p>
      </dgm:t>
    </dgm:pt>
    <dgm:pt modelId="{6450055F-C20A-4B0E-8702-4034EF98DB43}">
      <dgm:prSet phldrT="[Texte]" custT="1"/>
      <dgm:spPr/>
      <dgm:t>
        <a:bodyPr/>
        <a:lstStyle/>
        <a:p>
          <a:r>
            <a:rPr lang="fr-FR" sz="1800" dirty="0"/>
            <a:t>Comment allons nous gérer la </a:t>
          </a:r>
          <a:r>
            <a:rPr lang="fr-FR" sz="1800" dirty="0" err="1"/>
            <a:t>cloture</a:t>
          </a:r>
          <a:r>
            <a:rPr lang="fr-FR" sz="1800" dirty="0"/>
            <a:t> du projet?</a:t>
          </a:r>
          <a:endParaRPr lang="fr-FR" sz="1800" dirty="0">
            <a:latin typeface="Candara" panose="020E0502030303020204" pitchFamily="34" charset="0"/>
          </a:endParaRPr>
        </a:p>
      </dgm:t>
    </dgm:pt>
    <dgm:pt modelId="{5BC32DFF-CAE1-4703-9A7B-DC1C36FD39DB}" type="parTrans" cxnId="{E1BA01F6-4A48-48D1-9B96-E57A23FBAB62}">
      <dgm:prSet/>
      <dgm:spPr/>
      <dgm:t>
        <a:bodyPr/>
        <a:lstStyle/>
        <a:p>
          <a:endParaRPr lang="fr-FR"/>
        </a:p>
      </dgm:t>
    </dgm:pt>
    <dgm:pt modelId="{348822F2-AAD6-4B10-A3F0-1AB310C29064}" type="sibTrans" cxnId="{E1BA01F6-4A48-48D1-9B96-E57A23FBAB62}">
      <dgm:prSet/>
      <dgm:spPr/>
      <dgm:t>
        <a:bodyPr/>
        <a:lstStyle/>
        <a:p>
          <a:endParaRPr lang="fr-FR"/>
        </a:p>
      </dgm:t>
    </dgm:pt>
    <dgm:pt modelId="{DEDE1119-4F9B-4A73-A948-D3D777DC466A}" type="pres">
      <dgm:prSet presAssocID="{3BA7AA48-EB8C-4AF7-8412-422B2778D565}" presName="linear" presStyleCnt="0">
        <dgm:presLayoutVars>
          <dgm:animLvl val="lvl"/>
          <dgm:resizeHandles val="exact"/>
        </dgm:presLayoutVars>
      </dgm:prSet>
      <dgm:spPr/>
    </dgm:pt>
    <dgm:pt modelId="{91F29F1E-84C7-4ADA-A900-5997ADFA4490}" type="pres">
      <dgm:prSet presAssocID="{A43AC4EA-E59D-4075-8A5C-F8752B43D417}" presName="parentText" presStyleLbl="node1" presStyleIdx="0" presStyleCnt="1" custScaleY="75557" custLinFactNeighborX="226" custLinFactNeighborY="-5702">
        <dgm:presLayoutVars>
          <dgm:chMax val="0"/>
          <dgm:bulletEnabled val="1"/>
        </dgm:presLayoutVars>
      </dgm:prSet>
      <dgm:spPr/>
    </dgm:pt>
    <dgm:pt modelId="{6E9195F6-6A65-49A3-8115-C15240896B02}" type="pres">
      <dgm:prSet presAssocID="{A43AC4EA-E59D-4075-8A5C-F8752B43D417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AC19F91C-5199-48AF-97A9-F901CB561BD5}" type="presOf" srcId="{A43AC4EA-E59D-4075-8A5C-F8752B43D417}" destId="{91F29F1E-84C7-4ADA-A900-5997ADFA4490}" srcOrd="0" destOrd="0" presId="urn:microsoft.com/office/officeart/2005/8/layout/vList2"/>
    <dgm:cxn modelId="{6CD61F77-F0AE-42A3-BFB2-C3EDB4333E62}" srcId="{3BA7AA48-EB8C-4AF7-8412-422B2778D565}" destId="{A43AC4EA-E59D-4075-8A5C-F8752B43D417}" srcOrd="0" destOrd="0" parTransId="{5D7B530C-F80F-4323-9F8A-9F5CF826B180}" sibTransId="{8986592B-10E5-4262-8121-DAC13942CCFD}"/>
    <dgm:cxn modelId="{3A599478-5EE7-48E5-A46F-5B8CAAC46573}" type="presOf" srcId="{3BA7AA48-EB8C-4AF7-8412-422B2778D565}" destId="{DEDE1119-4F9B-4A73-A948-D3D777DC466A}" srcOrd="0" destOrd="0" presId="urn:microsoft.com/office/officeart/2005/8/layout/vList2"/>
    <dgm:cxn modelId="{591320DB-7864-45DA-A277-BB0A3FB96EB8}" type="presOf" srcId="{6450055F-C20A-4B0E-8702-4034EF98DB43}" destId="{6E9195F6-6A65-49A3-8115-C15240896B02}" srcOrd="0" destOrd="0" presId="urn:microsoft.com/office/officeart/2005/8/layout/vList2"/>
    <dgm:cxn modelId="{E1BA01F6-4A48-48D1-9B96-E57A23FBAB62}" srcId="{A43AC4EA-E59D-4075-8A5C-F8752B43D417}" destId="{6450055F-C20A-4B0E-8702-4034EF98DB43}" srcOrd="0" destOrd="0" parTransId="{5BC32DFF-CAE1-4703-9A7B-DC1C36FD39DB}" sibTransId="{348822F2-AAD6-4B10-A3F0-1AB310C29064}"/>
    <dgm:cxn modelId="{D049A35D-C8E9-45DC-8E52-9305568DF601}" type="presParOf" srcId="{DEDE1119-4F9B-4A73-A948-D3D777DC466A}" destId="{91F29F1E-84C7-4ADA-A900-5997ADFA4490}" srcOrd="0" destOrd="0" presId="urn:microsoft.com/office/officeart/2005/8/layout/vList2"/>
    <dgm:cxn modelId="{CEFBF7DA-1319-4EA0-8416-90BD61F18907}" type="presParOf" srcId="{DEDE1119-4F9B-4A73-A948-D3D777DC466A}" destId="{6E9195F6-6A65-49A3-8115-C15240896B02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F29F1E-84C7-4ADA-A900-5997ADFA4490}">
      <dsp:nvSpPr>
        <dsp:cNvPr id="0" name=""/>
        <dsp:cNvSpPr/>
      </dsp:nvSpPr>
      <dsp:spPr>
        <a:xfrm>
          <a:off x="0" y="0"/>
          <a:ext cx="8442000" cy="919377"/>
        </a:xfrm>
        <a:prstGeom prst="roundRect">
          <a:avLst/>
        </a:prstGeom>
        <a:solidFill>
          <a:schemeClr val="accent4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kern="1200" dirty="0">
              <a:latin typeface="Candara" panose="020E0502030303020204" pitchFamily="34" charset="0"/>
            </a:rPr>
            <a:t>Décision 1</a:t>
          </a:r>
        </a:p>
      </dsp:txBody>
      <dsp:txXfrm>
        <a:off x="44880" y="44880"/>
        <a:ext cx="8352240" cy="829617"/>
      </dsp:txXfrm>
    </dsp:sp>
    <dsp:sp modelId="{6E9195F6-6A65-49A3-8115-C15240896B02}">
      <dsp:nvSpPr>
        <dsp:cNvPr id="0" name=""/>
        <dsp:cNvSpPr/>
      </dsp:nvSpPr>
      <dsp:spPr>
        <a:xfrm>
          <a:off x="0" y="955670"/>
          <a:ext cx="8442000" cy="1076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803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FR" sz="1800" kern="1200" dirty="0"/>
            <a:t>Comment allons nous gérer la </a:t>
          </a:r>
          <a:r>
            <a:rPr lang="fr-FR" sz="1800" kern="1200" dirty="0" err="1"/>
            <a:t>cloture</a:t>
          </a:r>
          <a:r>
            <a:rPr lang="fr-FR" sz="1800" kern="1200" dirty="0"/>
            <a:t> du projet?</a:t>
          </a:r>
          <a:endParaRPr lang="fr-FR" sz="1800" kern="1200" dirty="0">
            <a:latin typeface="Candara" panose="020E0502030303020204" pitchFamily="34" charset="0"/>
          </a:endParaRPr>
        </a:p>
      </dsp:txBody>
      <dsp:txXfrm>
        <a:off x="0" y="955670"/>
        <a:ext cx="8442000" cy="10764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fr-F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Cliquez pour déplacer la diapo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&lt;en-tête&gt;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PlaceHolder 4"/>
          <p:cNvSpPr>
            <a:spLocks noGrp="1"/>
          </p:cNvSpPr>
          <p:nvPr>
            <p:ph type="dt" idx="7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PlaceHolder 5"/>
          <p:cNvSpPr>
            <a:spLocks noGrp="1"/>
          </p:cNvSpPr>
          <p:nvPr>
            <p:ph type="ftr" idx="7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6"/>
          <p:cNvSpPr>
            <a:spLocks noGrp="1"/>
          </p:cNvSpPr>
          <p:nvPr>
            <p:ph type="sldNum" idx="7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0341F43-A571-4DAA-BDE7-019670F13672}" type="slidenum"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380F552-3C0C-4F92-B2F2-3694DA62EC06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A4BA615-B594-4CE2-9325-84EE36091449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BE25C5-0DB3-4055-8E23-9531563A7E01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1B77CF5-E610-4328-981E-B9FCFFC7488D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L’idée est de suivre l’évolution des risques tout au long du projet (Criticité, mesures préventives et correctives)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4B7B47-BEAD-4534-8416-FBD2EF594F6D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220298-3AF7-49B7-936C-268B5B2C3AB9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48F159-5686-4F2D-BA0D-BFDD103B1FA8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83BB76F-86FF-4058-BF83-4DF287007A90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ACF5A22-3A12-4C73-A2CD-C6CDCC0EFF7A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3857212-8A77-4323-BFE3-BE8A636D23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2B5B89C-D526-4F44-AE10-9DFAF9E068F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 avec légen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6" hidden="1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Rectangle 7" hidden="1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Rectangle 13"/>
          <p:cNvSpPr/>
          <p:nvPr/>
        </p:nvSpPr>
        <p:spPr>
          <a:xfrm>
            <a:off x="9020520" y="237600"/>
            <a:ext cx="2925360" cy="6381720"/>
          </a:xfrm>
          <a:prstGeom prst="rect">
            <a:avLst/>
          </a:prstGeom>
          <a:solidFill>
            <a:schemeClr val="tx1"/>
          </a:solidFill>
          <a:ln cap="sq" w="6350">
            <a:solidFill>
              <a:srgbClr val="bfbfbf"/>
            </a:solidFill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Rectangle 8"/>
          <p:cNvSpPr/>
          <p:nvPr/>
        </p:nvSpPr>
        <p:spPr>
          <a:xfrm>
            <a:off x="9157680" y="374760"/>
            <a:ext cx="26510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9296280" y="603360"/>
            <a:ext cx="2431440" cy="164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228600" y="237600"/>
            <a:ext cx="8600400" cy="6381720"/>
          </a:xfrm>
          <a:prstGeom prst="rect">
            <a:avLst/>
          </a:prstGeom>
          <a:solidFill>
            <a:srgbClr val="808080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Cliquez sur l’icône pour ajouter une image</a:t>
            </a:r>
            <a:endParaRPr b="0" lang="fr-FR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9296280" y="2286000"/>
            <a:ext cx="2431440" cy="35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1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7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dk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dk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8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9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0CA8029-78D3-42F0-9730-9CF8683662E1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re et texte vertical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1066680" y="2103120"/>
            <a:ext cx="10057680" cy="393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10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11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12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065BCDF-32D4-49A0-ACFC-7CD1AFE1AC86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itre vertical et text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991720" y="762120"/>
            <a:ext cx="2361600" cy="525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838080" y="762120"/>
            <a:ext cx="8076600" cy="525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13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14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15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0AF584F-346B-4021-8566-74EAEA9AD770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re et contenu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1066680" y="2103120"/>
            <a:ext cx="10057680" cy="393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dt" idx="16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ftr" idx="17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sldNum" idx="18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82DF5DE-81BA-4894-9011-32E894C4BA5B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ux contenu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1066680" y="2103120"/>
            <a:ext cx="4754160" cy="374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370200" y="2103120"/>
            <a:ext cx="4754160" cy="374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dt" idx="19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ftr" idx="20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21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2FC2CB0-C13F-4867-80E6-44D359DD1D22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is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1069920" y="2074320"/>
            <a:ext cx="47541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8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1069920" y="2755800"/>
            <a:ext cx="4754160" cy="319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6373440" y="2074320"/>
            <a:ext cx="47541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8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body"/>
          </p:nvPr>
        </p:nvSpPr>
        <p:spPr>
          <a:xfrm>
            <a:off x="6373440" y="2756520"/>
            <a:ext cx="4754160" cy="319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dt" idx="22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 type="ftr" idx="23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8"/>
          <p:cNvSpPr>
            <a:spLocks noGrp="1"/>
          </p:cNvSpPr>
          <p:nvPr>
            <p:ph type="sldNum" idx="24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49DD90E-D811-4D38-9A79-D8FF8F535A9C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re uniquem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dt" idx="25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ftr" idx="26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sldNum" idx="27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166B651-3522-412D-8E65-E5FF9D57852B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dt" idx="28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29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sldNum" idx="30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51072C6-2ACE-4F05-955D-8F14B57E754A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u avec légen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6" hidden="1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ectangle 7" hidden="1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13"/>
          <p:cNvSpPr/>
          <p:nvPr/>
        </p:nvSpPr>
        <p:spPr>
          <a:xfrm>
            <a:off x="234720" y="237600"/>
            <a:ext cx="863244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15"/>
          <p:cNvSpPr/>
          <p:nvPr/>
        </p:nvSpPr>
        <p:spPr>
          <a:xfrm>
            <a:off x="371880" y="374760"/>
            <a:ext cx="835236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9020520" y="237600"/>
            <a:ext cx="2925360" cy="63817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9296280" y="607320"/>
            <a:ext cx="2430000" cy="164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90560" y="704880"/>
            <a:ext cx="7562160" cy="514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9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9296280" y="2286000"/>
            <a:ext cx="2430000" cy="35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1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chemeClr val="dk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31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32"/>
          </p:nvPr>
        </p:nvSpPr>
        <p:spPr>
          <a:xfrm>
            <a:off x="3439080" y="6214680"/>
            <a:ext cx="518400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33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dk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1FE3FE4-1C09-42B0-9022-DA52B79B1F23}" type="slidenum">
              <a:rPr b="0" lang="fr-FR" sz="1000" strike="noStrike" u="none">
                <a:solidFill>
                  <a:schemeClr val="dk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Rectangle 10"/>
          <p:cNvSpPr/>
          <p:nvPr/>
        </p:nvSpPr>
        <p:spPr>
          <a:xfrm>
            <a:off x="9157680" y="374760"/>
            <a:ext cx="2651040" cy="6107400"/>
          </a:xfrm>
          <a:prstGeom prst="rect">
            <a:avLst/>
          </a:prstGeom>
          <a:noFill/>
          <a:ln cap="sq" w="6350">
            <a:solidFill>
              <a:srgbClr val="ffffff"/>
            </a:solidFill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DD5EE93-5010-4421-B61A-208D5BD618F5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dt" idx="3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 type="ftr" idx="3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PlaceHolder 6"/>
          <p:cNvSpPr>
            <a:spLocks noGrp="1"/>
          </p:cNvSpPr>
          <p:nvPr>
            <p:ph type="sldNum" idx="3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5D8548A-D2F5-4486-B378-D2CFA5E46367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4"/>
          <p:cNvSpPr>
            <a:spLocks noGrp="1"/>
          </p:cNvSpPr>
          <p:nvPr>
            <p:ph type="dt" idx="4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5"/>
          <p:cNvSpPr>
            <a:spLocks noGrp="1"/>
          </p:cNvSpPr>
          <p:nvPr>
            <p:ph type="ftr" idx="4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PlaceHolder 6"/>
          <p:cNvSpPr>
            <a:spLocks noGrp="1"/>
          </p:cNvSpPr>
          <p:nvPr>
            <p:ph type="sldNum" idx="4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F5601BB-2FE8-4EAE-A800-AAD27655603B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dt" idx="4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ftr" idx="4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 type="sldNum" idx="4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91268A3-692A-4E9E-B03E-F3794094D1E6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Standard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dt" idx="4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ftr" idx="4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PlaceHolder 5"/>
          <p:cNvSpPr>
            <a:spLocks noGrp="1"/>
          </p:cNvSpPr>
          <p:nvPr>
            <p:ph type="sldNum" idx="4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98BB8D7-044E-4471-8260-11ABB81D39B6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tandard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dt" idx="4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ftr" idx="5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PlaceHolder 5"/>
          <p:cNvSpPr>
            <a:spLocks noGrp="1"/>
          </p:cNvSpPr>
          <p:nvPr>
            <p:ph type="sldNum" idx="5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9F7BB24-5793-490F-85F9-755D73F71C91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dt" idx="5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 type="ftr" idx="5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5"/>
          <p:cNvSpPr>
            <a:spLocks noGrp="1"/>
          </p:cNvSpPr>
          <p:nvPr>
            <p:ph type="sldNum" idx="5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873468A-D2E0-4B25-A66F-F57C90FDD4E8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dt" idx="5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4"/>
          <p:cNvSpPr>
            <a:spLocks noGrp="1"/>
          </p:cNvSpPr>
          <p:nvPr>
            <p:ph type="ftr" idx="5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PlaceHolder 5"/>
          <p:cNvSpPr>
            <a:spLocks noGrp="1"/>
          </p:cNvSpPr>
          <p:nvPr>
            <p:ph type="sldNum" idx="5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CADD48B-9EFE-48D1-B894-8882A44D6FD4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dt" idx="5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ftr" idx="5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sldNum" idx="6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06FE3EE-3A28-4E37-B472-AFBB2A57EFFC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re de 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dt" idx="6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PlaceHolder 4"/>
          <p:cNvSpPr>
            <a:spLocks noGrp="1"/>
          </p:cNvSpPr>
          <p:nvPr>
            <p:ph type="ftr" idx="6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PlaceHolder 5"/>
          <p:cNvSpPr>
            <a:spLocks noGrp="1"/>
          </p:cNvSpPr>
          <p:nvPr>
            <p:ph type="sldNum" idx="6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792C049-0B37-4F39-A8E9-C78FFD7A4363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 type="dt" idx="6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 type="ftr" idx="6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PlaceHolder 6"/>
          <p:cNvSpPr>
            <a:spLocks noGrp="1"/>
          </p:cNvSpPr>
          <p:nvPr>
            <p:ph type="sldNum" idx="6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AB0EBEE-169E-4BEC-907F-81139DC040F6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6"/>
          <p:cNvSpPr>
            <a:spLocks noGrp="1"/>
          </p:cNvSpPr>
          <p:nvPr>
            <p:ph type="dt" idx="6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7"/>
          <p:cNvSpPr>
            <a:spLocks noGrp="1"/>
          </p:cNvSpPr>
          <p:nvPr>
            <p:ph type="ftr" idx="6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PlaceHolder 8"/>
          <p:cNvSpPr>
            <a:spLocks noGrp="1"/>
          </p:cNvSpPr>
          <p:nvPr>
            <p:ph type="sldNum" idx="6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36E09B5-DE8E-4E00-A83A-0FB5A8504742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re seu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dt" idx="7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ftr" idx="7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PlaceHolder 4"/>
          <p:cNvSpPr>
            <a:spLocks noGrp="1"/>
          </p:cNvSpPr>
          <p:nvPr>
            <p:ph type="sldNum" idx="7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FFD3880-5F92-4DF1-ADB3-EE898F71AFB5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6" hidden="1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Rectangle 7" hidden="1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5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blipFill rotWithShape="0">
            <a:blip r:embed="rId2">
              <a:alphaModFix amt="45000"/>
            </a:blip>
            <a:srcRect/>
            <a:tile tx="2423520" ty="2262330" sx="100000" sy="100000" algn="tl"/>
          </a:blip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9"/>
          <p:cNvSpPr/>
          <p:nvPr/>
        </p:nvSpPr>
        <p:spPr>
          <a:xfrm>
            <a:off x="1307880" y="1267560"/>
            <a:ext cx="9575640" cy="4307400"/>
          </a:xfrm>
          <a:prstGeom prst="rect">
            <a:avLst/>
          </a:prstGeom>
          <a:solidFill>
            <a:schemeClr val="tx1"/>
          </a:solidFill>
          <a:ln w="6350">
            <a:solidFill>
              <a:srgbClr val="ffffff"/>
            </a:solidFill>
            <a:round/>
          </a:ln>
          <a:effectLst>
            <a:outerShdw algn="ctr" blurRad="63360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Rectangle 10"/>
          <p:cNvSpPr/>
          <p:nvPr/>
        </p:nvSpPr>
        <p:spPr>
          <a:xfrm>
            <a:off x="1447920" y="1411560"/>
            <a:ext cx="9295560" cy="4034160"/>
          </a:xfrm>
          <a:prstGeom prst="rect">
            <a:avLst/>
          </a:prstGeom>
          <a:solidFill>
            <a:schemeClr val="bg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Rectangle 14"/>
          <p:cNvSpPr/>
          <p:nvPr/>
        </p:nvSpPr>
        <p:spPr>
          <a:xfrm>
            <a:off x="5135760" y="1267560"/>
            <a:ext cx="1919520" cy="730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algn="t" blurRad="50760" dir="5400000" dist="12600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" name="Groupe 3"/>
          <p:cNvGrpSpPr/>
          <p:nvPr/>
        </p:nvGrpSpPr>
        <p:grpSpPr>
          <a:xfrm>
            <a:off x="5249880" y="1267560"/>
            <a:ext cx="1692000" cy="645480"/>
            <a:chOff x="5249880" y="1267560"/>
            <a:chExt cx="1692000" cy="645480"/>
          </a:xfrm>
        </p:grpSpPr>
        <p:cxnSp>
          <p:nvCxnSpPr>
            <p:cNvPr id="7" name="Connecteur droit 16"/>
            <p:cNvCxnSpPr/>
            <p:nvPr/>
          </p:nvCxnSpPr>
          <p:spPr>
            <a:xfrm>
              <a:off x="5249880" y="1267560"/>
              <a:ext cx="720" cy="64080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  <p:cxnSp>
          <p:nvCxnSpPr>
            <p:cNvPr id="8" name="Connecteur droit 17"/>
            <p:cNvCxnSpPr/>
            <p:nvPr/>
          </p:nvCxnSpPr>
          <p:spPr>
            <a:xfrm>
              <a:off x="6941520" y="1267560"/>
              <a:ext cx="720" cy="64080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  <p:cxnSp>
          <p:nvCxnSpPr>
            <p:cNvPr id="9" name="Connecteur droit 18"/>
            <p:cNvCxnSpPr/>
            <p:nvPr/>
          </p:nvCxnSpPr>
          <p:spPr>
            <a:xfrm>
              <a:off x="5249880" y="1912680"/>
              <a:ext cx="1692360" cy="72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</p:grp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561680" y="2091240"/>
            <a:ext cx="9068040" cy="259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83000"/>
              </a:lnSpc>
              <a:buNone/>
              <a:tabLst>
                <a:tab algn="l" pos="0"/>
              </a:tabLst>
            </a:pPr>
            <a:r>
              <a:rPr b="0" lang="fr-FR" sz="7200" spc="-99" strike="noStrike" u="none" cap="all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7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1"/>
          </p:nvPr>
        </p:nvSpPr>
        <p:spPr>
          <a:xfrm>
            <a:off x="5318640" y="1341360"/>
            <a:ext cx="1553760" cy="52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b="0" lang="fr-FR" sz="1300" strike="noStrike" u="none">
                <a:solidFill>
                  <a:schemeClr val="dk2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300" strike="noStrike" u="none">
                <a:solidFill>
                  <a:schemeClr val="dk2"/>
                </a:solidFill>
                <a:effectLst/>
                <a:uFillTx/>
                <a:latin typeface="Century Gothic"/>
              </a:rPr>
              <a:t> </a:t>
            </a:r>
            <a:endParaRPr b="0" lang="fr-FR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2"/>
          </p:nvPr>
        </p:nvSpPr>
        <p:spPr>
          <a:xfrm>
            <a:off x="1454040" y="5212080"/>
            <a:ext cx="5904720" cy="2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3"/>
          </p:nvPr>
        </p:nvSpPr>
        <p:spPr>
          <a:xfrm>
            <a:off x="8606880" y="5212080"/>
            <a:ext cx="2111040" cy="2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B5907EA-1C1D-488B-B672-41DB33CA67D1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3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6" hidden="1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Rectangle 7" hidden="1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Rectangle 18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blipFill rotWithShape="0">
            <a:blip r:embed="rId2">
              <a:alphaModFix amt="40000"/>
            </a:blip>
            <a:srcRect/>
            <a:tile tx="2423520" ty="2262330" sx="100000" sy="100000" algn="tl"/>
          </a:blip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Rectangle 22"/>
          <p:cNvSpPr/>
          <p:nvPr/>
        </p:nvSpPr>
        <p:spPr>
          <a:xfrm>
            <a:off x="1307880" y="1267560"/>
            <a:ext cx="9575640" cy="4307400"/>
          </a:xfrm>
          <a:prstGeom prst="rect">
            <a:avLst/>
          </a:prstGeom>
          <a:solidFill>
            <a:schemeClr val="tx1"/>
          </a:solidFill>
          <a:ln w="6350">
            <a:solidFill>
              <a:srgbClr val="ffffff"/>
            </a:solidFill>
            <a:round/>
          </a:ln>
          <a:effectLst>
            <a:outerShdw algn="ctr" blurRad="63360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Rectangle 23"/>
          <p:cNvSpPr/>
          <p:nvPr/>
        </p:nvSpPr>
        <p:spPr>
          <a:xfrm>
            <a:off x="1447920" y="1411560"/>
            <a:ext cx="9295560" cy="4034160"/>
          </a:xfrm>
          <a:prstGeom prst="rect">
            <a:avLst/>
          </a:prstGeom>
          <a:solidFill>
            <a:schemeClr val="bg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Rectangle 29"/>
          <p:cNvSpPr/>
          <p:nvPr/>
        </p:nvSpPr>
        <p:spPr>
          <a:xfrm>
            <a:off x="5135760" y="1267560"/>
            <a:ext cx="1919520" cy="730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algn="t" blurRad="50760" dir="5400000" dist="12600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2" name="Groupe 30"/>
          <p:cNvGrpSpPr/>
          <p:nvPr/>
        </p:nvGrpSpPr>
        <p:grpSpPr>
          <a:xfrm>
            <a:off x="5249880" y="1267560"/>
            <a:ext cx="1692000" cy="645480"/>
            <a:chOff x="5249880" y="1267560"/>
            <a:chExt cx="1692000" cy="645480"/>
          </a:xfrm>
        </p:grpSpPr>
        <p:cxnSp>
          <p:nvCxnSpPr>
            <p:cNvPr id="23" name="Connecteur droit 31"/>
            <p:cNvCxnSpPr/>
            <p:nvPr/>
          </p:nvCxnSpPr>
          <p:spPr>
            <a:xfrm>
              <a:off x="5249880" y="1267560"/>
              <a:ext cx="720" cy="64080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  <p:cxnSp>
          <p:nvCxnSpPr>
            <p:cNvPr id="24" name="Connecteur droit 32"/>
            <p:cNvCxnSpPr/>
            <p:nvPr/>
          </p:nvCxnSpPr>
          <p:spPr>
            <a:xfrm>
              <a:off x="6941520" y="1267560"/>
              <a:ext cx="720" cy="64080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  <p:cxnSp>
          <p:nvCxnSpPr>
            <p:cNvPr id="25" name="Connecteur droit 33"/>
            <p:cNvCxnSpPr/>
            <p:nvPr/>
          </p:nvCxnSpPr>
          <p:spPr>
            <a:xfrm>
              <a:off x="5249880" y="1912680"/>
              <a:ext cx="1692360" cy="72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</p:grp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563480" y="2094480"/>
            <a:ext cx="9070200" cy="258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83000"/>
              </a:lnSpc>
              <a:buNone/>
              <a:tabLst>
                <a:tab algn="l" pos="0"/>
              </a:tabLst>
            </a:pPr>
            <a:r>
              <a:rPr b="0" lang="fr-FR" sz="7200" spc="-99" strike="noStrike" u="none" cap="all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7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1563480" y="4682160"/>
            <a:ext cx="907020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100000"/>
              </a:lnSpc>
              <a:spcBef>
                <a:spcPts val="901"/>
              </a:spcBef>
              <a:buNone/>
              <a:tabLst>
                <a:tab algn="l" pos="0"/>
              </a:tabLst>
            </a:pPr>
            <a:r>
              <a:rPr b="0" lang="fr-FR" sz="16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4"/>
          </p:nvPr>
        </p:nvSpPr>
        <p:spPr>
          <a:xfrm>
            <a:off x="5321880" y="1344600"/>
            <a:ext cx="1553760" cy="52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b="0" lang="fr-FR" sz="1300" strike="noStrike" u="none">
                <a:solidFill>
                  <a:schemeClr val="dk2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300" strike="noStrike" u="none">
                <a:solidFill>
                  <a:schemeClr val="dk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5"/>
          </p:nvPr>
        </p:nvSpPr>
        <p:spPr>
          <a:xfrm>
            <a:off x="1454040" y="5212080"/>
            <a:ext cx="5906160" cy="2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6"/>
          </p:nvPr>
        </p:nvSpPr>
        <p:spPr>
          <a:xfrm>
            <a:off x="8604360" y="5212080"/>
            <a:ext cx="2111400" cy="2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BA5AF95-1337-4D89-A5C4-FCF5F2537F73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8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diagramData" Target="../diagrams/data1.xml"/><Relationship Id="rId2" Type="http://schemas.openxmlformats.org/officeDocument/2006/relationships/diagramLayout" Target="../diagrams/layout1.xml"/><Relationship Id="rId3" Type="http://schemas.openxmlformats.org/officeDocument/2006/relationships/diagramQuickStyle" Target="../diagrams/quickStyle1.xml"/><Relationship Id="rId4" Type="http://schemas.openxmlformats.org/officeDocument/2006/relationships/diagramColors" Target="../diagrams/colors1.xml"/><Relationship Id="rId5" Type="http://schemas.microsoft.com/office/2007/relationships/diagramDrawing" Target="../diagrams/drawing1.xml"/><Relationship Id="rId6" Type="http://schemas.openxmlformats.org/officeDocument/2006/relationships/slideLayout" Target="../slideLayouts/slideLayout18.xml"/><Relationship Id="rId7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ZoneTexte 3"/>
          <p:cNvSpPr/>
          <p:nvPr/>
        </p:nvSpPr>
        <p:spPr>
          <a:xfrm>
            <a:off x="3252240" y="2110680"/>
            <a:ext cx="5451120" cy="23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fr-FR" sz="40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Réunion du comité de pilotage</a:t>
            </a:r>
            <a:endParaRPr b="0" lang="fr-FR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fr-FR" sz="32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Beemo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6"/>
          <p:cNvSpPr/>
          <p:nvPr/>
        </p:nvSpPr>
        <p:spPr>
          <a:xfrm>
            <a:off x="5252760" y="4581360"/>
            <a:ext cx="16714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fr-FR" sz="20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Le 29/08/2025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9"/>
          <p:cNvSpPr/>
          <p:nvPr/>
        </p:nvSpPr>
        <p:spPr>
          <a:xfrm>
            <a:off x="0" y="-2592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50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Ordre du jour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archemin vertical 3"/>
          <p:cNvSpPr/>
          <p:nvPr/>
        </p:nvSpPr>
        <p:spPr>
          <a:xfrm>
            <a:off x="2519280" y="1481760"/>
            <a:ext cx="7152480" cy="4361760"/>
          </a:xfrm>
          <a:prstGeom prst="verticalScroll">
            <a:avLst>
              <a:gd name="adj" fmla="val 12500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Vue d’ensemble sur l’avancement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Vue d’ensemble sur la performance de projet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Revue du budget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Revue du planning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Revue des risques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Evolution des KPIs de projet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Décisions à prendre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Questions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Prochaines réunions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Rectangle 1"/>
          <p:cNvSpPr/>
          <p:nvPr/>
        </p:nvSpPr>
        <p:spPr>
          <a:xfrm>
            <a:off x="0" y="-2592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50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Diagramme de Gantt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" descr=""/>
          <p:cNvPicPr/>
          <p:nvPr/>
        </p:nvPicPr>
        <p:blipFill>
          <a:blip r:embed="rId1"/>
          <a:stretch/>
        </p:blipFill>
        <p:spPr>
          <a:xfrm>
            <a:off x="292680" y="1225440"/>
            <a:ext cx="11720160" cy="4476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10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Performance de projet : Revue du Budget simplifiée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Graphique 5"/>
          <p:cNvGraphicFramePr/>
          <p:nvPr/>
        </p:nvGraphicFramePr>
        <p:xfrm>
          <a:off x="1645560" y="873720"/>
          <a:ext cx="8127360" cy="504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Rectangle 10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Performance de projet : Analyse de la valeur acquise ½ *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ZoneTexte 6"/>
          <p:cNvSpPr/>
          <p:nvPr/>
        </p:nvSpPr>
        <p:spPr>
          <a:xfrm>
            <a:off x="1085760" y="6187320"/>
            <a:ext cx="51652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Cf ‘’Rapport de suivi du budget’’ pour plus de détails 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Image 5" descr=""/>
          <p:cNvPicPr/>
          <p:nvPr/>
        </p:nvPicPr>
        <p:blipFill>
          <a:blip r:embed="rId1"/>
          <a:stretch/>
        </p:blipFill>
        <p:spPr>
          <a:xfrm>
            <a:off x="0" y="1884960"/>
            <a:ext cx="12191400" cy="3087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angle 10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Performance de projet : Analyse de la valeur acquise 2/2 *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ZoneTexte 6"/>
          <p:cNvSpPr/>
          <p:nvPr/>
        </p:nvSpPr>
        <p:spPr>
          <a:xfrm>
            <a:off x="819720" y="6469560"/>
            <a:ext cx="61048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Cf ‘’Rapport de suivi du budget’’ pour plus de détails 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" name="Image 5" descr=""/>
          <p:cNvPicPr/>
          <p:nvPr/>
        </p:nvPicPr>
        <p:blipFill>
          <a:blip r:embed="rId1"/>
          <a:stretch/>
        </p:blipFill>
        <p:spPr>
          <a:xfrm>
            <a:off x="3044880" y="1981080"/>
            <a:ext cx="7295400" cy="2894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ZoneTexte 2"/>
          <p:cNvSpPr/>
          <p:nvPr/>
        </p:nvSpPr>
        <p:spPr>
          <a:xfrm>
            <a:off x="963360" y="6046560"/>
            <a:ext cx="655596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fr-FR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*cf ‘’</a:t>
            </a:r>
            <a:r>
              <a:rPr b="0" lang="fr-BE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Registre des risques’’ pour plus de détails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Rectangle 11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Revue des risques du projet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Image 4" descr=""/>
          <p:cNvPicPr/>
          <p:nvPr/>
        </p:nvPicPr>
        <p:blipFill>
          <a:blip r:embed="rId1"/>
          <a:stretch/>
        </p:blipFill>
        <p:spPr>
          <a:xfrm>
            <a:off x="871560" y="1000080"/>
            <a:ext cx="10448280" cy="4857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9" name="Tableau 8"/>
          <p:cNvGraphicFramePr/>
          <p:nvPr/>
        </p:nvGraphicFramePr>
        <p:xfrm>
          <a:off x="681480" y="1239120"/>
          <a:ext cx="11134080" cy="2928240"/>
        </p:xfrm>
        <a:graphic>
          <a:graphicData uri="http://schemas.openxmlformats.org/drawingml/2006/table">
            <a:tbl>
              <a:tblPr/>
              <a:tblGrid>
                <a:gridCol w="2863440"/>
                <a:gridCol w="1594440"/>
                <a:gridCol w="2573280"/>
                <a:gridCol w="1492920"/>
                <a:gridCol w="2610360"/>
              </a:tblGrid>
              <a:tr h="5518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KPI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Cible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Etat actuel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Tendance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Commentaire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  <a:tr h="5914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250000"/>
                        </a:lnSpc>
                      </a:pPr>
                      <a:r>
                        <a:rPr b="1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Budget planifié du projet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algn="ctr" defTabSz="914400">
                        <a:lnSpc>
                          <a:spcPct val="25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288 K euros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72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Non satisfaisant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 (Réel supérieur à la valeur Planifié)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200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72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Amélioration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200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72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Bien que les matériaux on été acheté plus chère nous maintenons le budget prévu par la suite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200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  <a:tr h="51264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250000"/>
                        </a:lnSpc>
                      </a:pPr>
                      <a:r>
                        <a:rPr b="1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Retour sur investissement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algn="ctr" defTabSz="914400">
                        <a:lnSpc>
                          <a:spcPct val="25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1 an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Satisfaisant 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(Projet dans les délais)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Amélioration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En bonne voie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  <a:tr h="6940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250000"/>
                        </a:lnSpc>
                      </a:pPr>
                      <a:r>
                        <a:rPr b="1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Satisfaction clients internes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algn="ctr" defTabSz="914400">
                        <a:lnSpc>
                          <a:spcPct val="25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90%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Satisfaisant 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(Projet dans les délais)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Amélioration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Confiance grandissante dans les avantages du projet après les tests communs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  <a:tr h="5781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250000"/>
                        </a:lnSpc>
                      </a:pPr>
                      <a:r>
                        <a:rPr b="1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Satisfaction clients externes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algn="ctr" defTabSz="914400">
                        <a:lnSpc>
                          <a:spcPct val="25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90%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Satisfaisant 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(Projet dans les délais)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Amélioration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Cout on été monitoré plus rigoureusement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00" name="Rectangle 11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Evolution des KPIs du projet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/>
          </p:nvPr>
        </p:nvSpPr>
        <p:spPr>
          <a:xfrm>
            <a:off x="674640" y="1575720"/>
            <a:ext cx="10678680" cy="39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Points en suspens et les décisions à prendre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ectangle 10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Décisions à prendre / Arbitrage à faire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" name="Diagram1"/>
          <p:cNvGraphicFramePr/>
          <p:nvPr>
            <p:extLst>
              <p:ext uri="{D42A27DB-BD31-4B8C-83A1-F6EECF244321}">
                <p14:modId xmlns:p14="http://schemas.microsoft.com/office/powerpoint/2010/main" val="535910252"/>
              </p:ext>
            </p:extLst>
          </p:nvPr>
        </p:nvGraphicFramePr>
        <p:xfrm>
          <a:off x="1073160" y="2208240"/>
          <a:ext cx="8441280" cy="20674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1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Questions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Picture 2" descr="Questionnement Png Transparent Images – Free PNG Images Vector, PSD,  Clipart, Templates"/>
          <p:cNvPicPr/>
          <p:nvPr/>
        </p:nvPicPr>
        <p:blipFill>
          <a:blip r:embed="rId1"/>
          <a:stretch/>
        </p:blipFill>
        <p:spPr>
          <a:xfrm>
            <a:off x="1915200" y="2553480"/>
            <a:ext cx="2100960" cy="164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ZoneTexte 1"/>
          <p:cNvSpPr/>
          <p:nvPr/>
        </p:nvSpPr>
        <p:spPr>
          <a:xfrm>
            <a:off x="4632480" y="2914920"/>
            <a:ext cx="643464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L’équipe projet se fera un plaisir de répondre à toutes les questions, remarques et suggestions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/>
          </p:nvPr>
        </p:nvSpPr>
        <p:spPr>
          <a:xfrm>
            <a:off x="983880" y="2090160"/>
            <a:ext cx="6442920" cy="156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Prochaines réunions du comité de pilotage: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29e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Le 10/09/2025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Rectangle 11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Prochaines réunions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_rels/theme1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2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3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theme1.xml><?xml version="1.0" encoding="utf-8"?>
<a:theme xmlns:a="http://schemas.openxmlformats.org/drawingml/2006/main" xmlns:r="http://schemas.openxmlformats.org/officeDocument/2006/relationships" name="Savon">
  <a:themeElements>
    <a:clrScheme name="Savon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26b02"/>
      </a:folHlink>
    </a:clrScheme>
    <a:fontScheme name="Sav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0000"/>
                <a:lumMod val="105000"/>
              </a:schemeClr>
            </a:gs>
            <a:gs pos="100000">
              <a:schemeClr val="phClr">
                <a:tint val="65000"/>
                <a:lumMod val="100000"/>
              </a:schemeClr>
            </a:gs>
            <a:gs pos="100000">
              <a:schemeClr val="phClr">
                <a:tint val="70000"/>
                <a:lumMod val="10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0000"/>
              </a:schemeClr>
            </a:gs>
            <a:gs pos="50000">
              <a:schemeClr val="phClr">
                <a:shade val="99000"/>
                <a:lumMod val="100000"/>
              </a:schemeClr>
            </a:gs>
            <a:gs pos="100000">
              <a:schemeClr val="phClr">
                <a:shade val="98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</a:ln>
        <a:ln w="12700" cap="flat" cmpd="sng" algn="ctr">
          <a:prstDash val="solid"/>
        </a:ln>
        <a:ln w="1905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  <a:shade val="100000"/>
              </a:schemeClr>
            </a:gs>
            <a:gs pos="100000">
              <a:schemeClr val="phClr">
                <a:tint val="100000"/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  <a:blipFill rotWithShape="1">
          <a:blip r:embed="rId1"/>
          <a:srcRect l="0" t="0" r="0" b="0"/>
          <a:tile tx="0" ty="0" sx="60000" sy="60000" flip="none" algn="tl"/>
        </a:blip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avon">
  <a:themeElements>
    <a:clrScheme name="Savon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26b02"/>
      </a:folHlink>
    </a:clrScheme>
    <a:fontScheme name="Sav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0000"/>
                <a:lumMod val="105000"/>
              </a:schemeClr>
            </a:gs>
            <a:gs pos="100000">
              <a:schemeClr val="phClr">
                <a:tint val="65000"/>
                <a:lumMod val="100000"/>
              </a:schemeClr>
            </a:gs>
            <a:gs pos="100000">
              <a:schemeClr val="phClr">
                <a:tint val="70000"/>
                <a:lumMod val="10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0000"/>
              </a:schemeClr>
            </a:gs>
            <a:gs pos="50000">
              <a:schemeClr val="phClr">
                <a:shade val="99000"/>
                <a:lumMod val="100000"/>
              </a:schemeClr>
            </a:gs>
            <a:gs pos="100000">
              <a:schemeClr val="phClr">
                <a:shade val="98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</a:ln>
        <a:ln w="12700" cap="flat" cmpd="sng" algn="ctr">
          <a:prstDash val="solid"/>
        </a:ln>
        <a:ln w="1905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  <a:shade val="100000"/>
              </a:schemeClr>
            </a:gs>
            <a:gs pos="100000">
              <a:schemeClr val="phClr">
                <a:tint val="100000"/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  <a:blipFill rotWithShape="1">
          <a:blip r:embed="rId1"/>
          <a:srcRect l="0" t="0" r="0" b="0"/>
          <a:tile tx="0" ty="0" sx="60000" sy="60000" flip="none" algn="tl"/>
        </a:blip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avon">
  <a:themeElements>
    <a:clrScheme name="Savon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26b02"/>
      </a:folHlink>
    </a:clrScheme>
    <a:fontScheme name="Sav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0000"/>
                <a:lumMod val="105000"/>
              </a:schemeClr>
            </a:gs>
            <a:gs pos="100000">
              <a:schemeClr val="phClr">
                <a:tint val="65000"/>
                <a:lumMod val="100000"/>
              </a:schemeClr>
            </a:gs>
            <a:gs pos="100000">
              <a:schemeClr val="phClr">
                <a:tint val="70000"/>
                <a:lumMod val="10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0000"/>
              </a:schemeClr>
            </a:gs>
            <a:gs pos="50000">
              <a:schemeClr val="phClr">
                <a:shade val="99000"/>
                <a:lumMod val="100000"/>
              </a:schemeClr>
            </a:gs>
            <a:gs pos="100000">
              <a:schemeClr val="phClr">
                <a:shade val="98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</a:ln>
        <a:ln w="12700" cap="flat" cmpd="sng" algn="ctr">
          <a:prstDash val="solid"/>
        </a:ln>
        <a:ln w="1905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  <a:shade val="100000"/>
              </a:schemeClr>
            </a:gs>
            <a:gs pos="100000">
              <a:schemeClr val="phClr">
                <a:tint val="100000"/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  <a:blipFill rotWithShape="1">
          <a:blip r:embed="rId1"/>
          <a:srcRect l="0" t="0" r="0" b="0"/>
          <a:tile tx="0" ty="0" sx="60000" sy="60000" flip="none" algn="tl"/>
        </a:blip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75D6F7AD-09FB-47AB-B353-D1D83850E3A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CC21C94-EC06-4610-B8F0-A456DD28CDE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2C0DB4D-BE53-4100-8A0D-CEFB2E48282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Conception de savon jardin</Template>
  <TotalTime>0</TotalTime>
  <Application>LibreOffice/25.2.5.2$Windows_X86_64 LibreOffice_project/03d19516eb2e1dd5d4ccd751a0d6f35f35e08022</Application>
  <AppVersion>15.0000</AppVersion>
  <Words>442</Words>
  <Paragraphs>95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2021-04-13T17:12:54Z</dcterms:created>
  <dc:creator/>
  <dc:description/>
  <dc:language>fr-FR</dc:language>
  <cp:lastModifiedBy/>
  <dcterms:modified xsi:type="dcterms:W3CDTF">2025-09-24T15:19:49Z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Notes">
    <vt:i4>10</vt:i4>
  </property>
  <property fmtid="{D5CDD505-2E9C-101B-9397-08002B2CF9AE}" pid="4" name="PresentationFormat">
    <vt:lpwstr>Grand écran</vt:lpwstr>
  </property>
  <property fmtid="{D5CDD505-2E9C-101B-9397-08002B2CF9AE}" pid="5" name="Slides">
    <vt:i4>11</vt:i4>
  </property>
</Properties>
</file>