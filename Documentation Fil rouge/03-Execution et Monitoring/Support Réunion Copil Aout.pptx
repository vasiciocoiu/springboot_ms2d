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_rels/theme1.xml.rels" ContentType="application/vnd.openxmlformats-package.relationships+xml"/>
  <Override PartName="/ppt/theme/_rels/theme2.xml.rels" ContentType="application/vnd.openxmlformats-package.relationships+xml"/>
  <Override PartName="/ppt/theme/theme23.xml" ContentType="application/vnd.openxmlformats-officedocument.theme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1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Budget SAP30/CMRL à fin </a:t>
            </a: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Aout</a:t>
            </a:r>
            <a:r>
              <a:rPr b="1" lang="en-US" sz="1862" strike="noStrike" u="none">
                <a:solidFill>
                  <a:srgbClr val="548235"/>
                </a:solidFill>
                <a:uFillTx/>
                <a:latin typeface="Calibri"/>
              </a:rPr>
              <a:t> 2025</a:t>
            </a:r>
          </a:p>
        </c:rich>
      </c:tx>
      <c:layout>
        <c:manualLayout>
          <c:xMode val="edge"/>
          <c:yMode val="edge"/>
          <c:x val="0.217556913809903"/>
          <c:y val="0.131257587659787"/>
        </c:manualLayout>
      </c:layout>
      <c:overlay val="0"/>
      <c:spPr>
        <a:noFill/>
        <a:ln w="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71051466028878"/>
          <c:y val="0.247446975648075"/>
          <c:w val="0.745770218797059"/>
          <c:h val="0.59944297650503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nov-24</c:v>
                </c:pt>
              </c:strCache>
            </c:strRef>
          </c:tx>
          <c:spPr>
            <a:solidFill>
              <a:srgbClr val="a9d18e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5b9bd5"/>
              </a:solidFill>
              <a:ln w="0">
                <a:noFill/>
              </a:ln>
            </c:spPr>
          </c:dPt>
          <c:dPt>
            <c:idx val="1"/>
            <c:invertIfNegative val="0"/>
            <c:spPr>
              <a:gradFill>
                <a:gsLst>
                  <a:gs pos="0">
                    <a:srgbClr val="637e51"/>
                  </a:gs>
                  <a:gs pos="50000">
                    <a:srgbClr val="8db473"/>
                  </a:gs>
                  <a:gs pos="100000">
                    <a:srgbClr val="a7d588"/>
                  </a:gs>
                </a:gsLst>
                <a:lin ang="0"/>
              </a:gradFill>
              <a:ln w="0">
                <a:noFill/>
              </a:ln>
            </c:spPr>
          </c:dPt>
          <c:dPt>
            <c:idx val="2"/>
            <c:invertIfNegative val="0"/>
            <c:spPr>
              <a:gradFill>
                <a:gsLst>
                  <a:gs pos="0">
                    <a:srgbClr val="637e51"/>
                  </a:gs>
                  <a:gs pos="50000">
                    <a:srgbClr val="8db473"/>
                  </a:gs>
                  <a:gs pos="100000">
                    <a:srgbClr val="a7d588"/>
                  </a:gs>
                </a:gsLst>
                <a:lin ang="5400000"/>
              </a:gradFill>
              <a:ln w="0">
                <a:noFill/>
              </a:ln>
            </c:spPr>
          </c:dPt>
          <c:dLbls>
            <c:numFmt formatCode="General" sourceLinked="0"/>
            <c:dLbl>
              <c:idx val="0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592000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304000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General" sourceLinked="0"/>
              <c:txPr>
                <a:bodyPr wrap="square"/>
                <a:lstStyle/>
                <a:p>
                  <a:pPr>
                    <a:defRPr b="0" sz="1197" strike="noStrike" u="none">
                      <a:solidFill>
                        <a:srgbClr val="404040"/>
                      </a:solidFill>
                      <a:uFillTx/>
                      <a:latin typeface="Calibri"/>
                    </a:defRPr>
                  </a:pPr>
                </a:p>
              </c:txPr>
              <c:tx>
                <c:rich>
                  <a:bodyPr/>
                  <a:p>
                    <a:r>
                      <a:rPr b="0" lang="en-US" sz="1197" strike="noStrike" u="none">
                        <a:solidFill>
                          <a:srgbClr val="404040"/>
                        </a:solidFill>
                        <a:uFillTx/>
                        <a:latin typeface="Calibri"/>
                      </a:rPr>
                      <a:t>28000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197" strike="noStrike" u="none">
                    <a:solidFill>
                      <a:srgbClr val="40404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Total</c:v>
                </c:pt>
                <c:pt idx="1">
                  <c:v>Réel</c:v>
                </c:pt>
                <c:pt idx="2">
                  <c:v>Planifié à cette date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592000</c:v>
                </c:pt>
                <c:pt idx="1">
                  <c:v>304000</c:v>
                </c:pt>
                <c:pt idx="2">
                  <c:v>280000</c:v>
                </c:pt>
              </c:numCache>
            </c:numRef>
          </c:val>
        </c:ser>
        <c:gapWidth val="170"/>
        <c:overlap val="0"/>
        <c:axId val="60402272"/>
        <c:axId val="50215698"/>
      </c:barChart>
      <c:catAx>
        <c:axId val="6040227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50215698"/>
        <c:crosses val="autoZero"/>
        <c:auto val="1"/>
        <c:lblAlgn val="ctr"/>
        <c:lblOffset val="100"/>
        <c:noMultiLvlLbl val="0"/>
      </c:catAx>
      <c:valAx>
        <c:axId val="50215698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1197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60402272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197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A7AA48-EB8C-4AF7-8412-422B2778D5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A43AC4EA-E59D-4075-8A5C-F8752B43D417}">
      <dgm:prSet phldrT="[Texte]" custT="1"/>
      <dgm:spPr>
        <a:solidFill>
          <a:schemeClr val="accent4"/>
        </a:solidFill>
      </dgm:spPr>
      <dgm:t>
        <a:bodyPr/>
        <a:lstStyle/>
        <a:p>
          <a:r>
            <a:rPr lang="fr-FR" sz="2000" dirty="0">
              <a:latin typeface="Candara" panose="020E0502030303020204" pitchFamily="34" charset="0"/>
            </a:rPr>
            <a:t>Décision 1</a:t>
          </a:r>
        </a:p>
      </dgm:t>
    </dgm:pt>
    <dgm:pt modelId="{5D7B530C-F80F-4323-9F8A-9F5CF826B180}" type="parTrans" cxnId="{6CD61F77-F0AE-42A3-BFB2-C3EDB4333E62}">
      <dgm:prSet/>
      <dgm:spPr/>
      <dgm:t>
        <a:bodyPr/>
        <a:lstStyle/>
        <a:p>
          <a:endParaRPr lang="fr-FR"/>
        </a:p>
      </dgm:t>
    </dgm:pt>
    <dgm:pt modelId="{8986592B-10E5-4262-8121-DAC13942CCFD}" type="sibTrans" cxnId="{6CD61F77-F0AE-42A3-BFB2-C3EDB4333E62}">
      <dgm:prSet/>
      <dgm:spPr/>
      <dgm:t>
        <a:bodyPr/>
        <a:lstStyle/>
        <a:p>
          <a:endParaRPr lang="fr-FR"/>
        </a:p>
      </dgm:t>
    </dgm:pt>
    <dgm:pt modelId="{6450055F-C20A-4B0E-8702-4034EF98DB43}">
      <dgm:prSet phldrT="[Texte]" custT="1"/>
      <dgm:spPr/>
      <dgm:t>
        <a:bodyPr/>
        <a:lstStyle/>
        <a:p>
          <a:r>
            <a:rPr lang="fr-FR" sz="1800" dirty="0"/>
            <a:t>Comment allons nous gérer la </a:t>
          </a:r>
          <a:r>
            <a:rPr lang="fr-FR" sz="1800" dirty="0" err="1"/>
            <a:t>cloture</a:t>
          </a:r>
          <a:r>
            <a:rPr lang="fr-FR" sz="1800" dirty="0"/>
            <a:t> du projet?</a:t>
          </a:r>
          <a:endParaRPr lang="fr-FR" sz="1800" dirty="0">
            <a:latin typeface="Candara" panose="020E0502030303020204" pitchFamily="34" charset="0"/>
          </a:endParaRPr>
        </a:p>
      </dgm:t>
    </dgm:pt>
    <dgm:pt modelId="{5BC32DFF-CAE1-4703-9A7B-DC1C36FD39DB}" type="parTrans" cxnId="{E1BA01F6-4A48-48D1-9B96-E57A23FBAB62}">
      <dgm:prSet/>
      <dgm:spPr/>
      <dgm:t>
        <a:bodyPr/>
        <a:lstStyle/>
        <a:p>
          <a:endParaRPr lang="fr-FR"/>
        </a:p>
      </dgm:t>
    </dgm:pt>
    <dgm:pt modelId="{348822F2-AAD6-4B10-A3F0-1AB310C29064}" type="sibTrans" cxnId="{E1BA01F6-4A48-48D1-9B96-E57A23FBAB62}">
      <dgm:prSet/>
      <dgm:spPr/>
      <dgm:t>
        <a:bodyPr/>
        <a:lstStyle/>
        <a:p>
          <a:endParaRPr lang="fr-FR"/>
        </a:p>
      </dgm:t>
    </dgm:pt>
    <dgm:pt modelId="{DEDE1119-4F9B-4A73-A948-D3D777DC466A}" type="pres">
      <dgm:prSet presAssocID="{3BA7AA48-EB8C-4AF7-8412-422B2778D565}" presName="linear" presStyleCnt="0">
        <dgm:presLayoutVars>
          <dgm:animLvl val="lvl"/>
          <dgm:resizeHandles val="exact"/>
        </dgm:presLayoutVars>
      </dgm:prSet>
      <dgm:spPr/>
    </dgm:pt>
    <dgm:pt modelId="{91F29F1E-84C7-4ADA-A900-5997ADFA4490}" type="pres">
      <dgm:prSet presAssocID="{A43AC4EA-E59D-4075-8A5C-F8752B43D417}" presName="parentText" presStyleLbl="node1" presStyleIdx="0" presStyleCnt="1" custScaleY="75557" custLinFactNeighborX="226" custLinFactNeighborY="-5702">
        <dgm:presLayoutVars>
          <dgm:chMax val="0"/>
          <dgm:bulletEnabled val="1"/>
        </dgm:presLayoutVars>
      </dgm:prSet>
      <dgm:spPr/>
    </dgm:pt>
    <dgm:pt modelId="{6E9195F6-6A65-49A3-8115-C15240896B02}" type="pres">
      <dgm:prSet presAssocID="{A43AC4EA-E59D-4075-8A5C-F8752B43D41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C19F91C-5199-48AF-97A9-F901CB561BD5}" type="presOf" srcId="{A43AC4EA-E59D-4075-8A5C-F8752B43D417}" destId="{91F29F1E-84C7-4ADA-A900-5997ADFA4490}" srcOrd="0" destOrd="0" presId="urn:microsoft.com/office/officeart/2005/8/layout/vList2"/>
    <dgm:cxn modelId="{6CD61F77-F0AE-42A3-BFB2-C3EDB4333E62}" srcId="{3BA7AA48-EB8C-4AF7-8412-422B2778D565}" destId="{A43AC4EA-E59D-4075-8A5C-F8752B43D417}" srcOrd="0" destOrd="0" parTransId="{5D7B530C-F80F-4323-9F8A-9F5CF826B180}" sibTransId="{8986592B-10E5-4262-8121-DAC13942CCFD}"/>
    <dgm:cxn modelId="{3A599478-5EE7-48E5-A46F-5B8CAAC46573}" type="presOf" srcId="{3BA7AA48-EB8C-4AF7-8412-422B2778D565}" destId="{DEDE1119-4F9B-4A73-A948-D3D777DC466A}" srcOrd="0" destOrd="0" presId="urn:microsoft.com/office/officeart/2005/8/layout/vList2"/>
    <dgm:cxn modelId="{591320DB-7864-45DA-A277-BB0A3FB96EB8}" type="presOf" srcId="{6450055F-C20A-4B0E-8702-4034EF98DB43}" destId="{6E9195F6-6A65-49A3-8115-C15240896B02}" srcOrd="0" destOrd="0" presId="urn:microsoft.com/office/officeart/2005/8/layout/vList2"/>
    <dgm:cxn modelId="{E1BA01F6-4A48-48D1-9B96-E57A23FBAB62}" srcId="{A43AC4EA-E59D-4075-8A5C-F8752B43D417}" destId="{6450055F-C20A-4B0E-8702-4034EF98DB43}" srcOrd="0" destOrd="0" parTransId="{5BC32DFF-CAE1-4703-9A7B-DC1C36FD39DB}" sibTransId="{348822F2-AAD6-4B10-A3F0-1AB310C29064}"/>
    <dgm:cxn modelId="{D049A35D-C8E9-45DC-8E52-9305568DF601}" type="presParOf" srcId="{DEDE1119-4F9B-4A73-A948-D3D777DC466A}" destId="{91F29F1E-84C7-4ADA-A900-5997ADFA4490}" srcOrd="0" destOrd="0" presId="urn:microsoft.com/office/officeart/2005/8/layout/vList2"/>
    <dgm:cxn modelId="{CEFBF7DA-1319-4EA0-8416-90BD61F18907}" type="presParOf" srcId="{DEDE1119-4F9B-4A73-A948-D3D777DC466A}" destId="{6E9195F6-6A65-49A3-8115-C15240896B0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29F1E-84C7-4ADA-A900-5997ADFA4490}">
      <dsp:nvSpPr>
        <dsp:cNvPr id="0" name=""/>
        <dsp:cNvSpPr/>
      </dsp:nvSpPr>
      <dsp:spPr>
        <a:xfrm>
          <a:off x="0" y="0"/>
          <a:ext cx="8442000" cy="919377"/>
        </a:xfrm>
        <a:prstGeom prst="round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>
              <a:latin typeface="Candara" panose="020E0502030303020204" pitchFamily="34" charset="0"/>
            </a:rPr>
            <a:t>Décision 1</a:t>
          </a:r>
        </a:p>
      </dsp:txBody>
      <dsp:txXfrm>
        <a:off x="44880" y="44880"/>
        <a:ext cx="8352240" cy="829617"/>
      </dsp:txXfrm>
    </dsp:sp>
    <dsp:sp modelId="{6E9195F6-6A65-49A3-8115-C15240896B02}">
      <dsp:nvSpPr>
        <dsp:cNvPr id="0" name=""/>
        <dsp:cNvSpPr/>
      </dsp:nvSpPr>
      <dsp:spPr>
        <a:xfrm>
          <a:off x="0" y="955670"/>
          <a:ext cx="8442000" cy="107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034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800" kern="1200" dirty="0"/>
            <a:t>Comment allons nous gérer la </a:t>
          </a:r>
          <a:r>
            <a:rPr lang="fr-FR" sz="1800" kern="1200" dirty="0" err="1"/>
            <a:t>cloture</a:t>
          </a:r>
          <a:r>
            <a:rPr lang="fr-FR" sz="1800" kern="1200" dirty="0"/>
            <a:t> du projet?</a:t>
          </a:r>
          <a:endParaRPr lang="fr-FR" sz="1800" kern="1200" dirty="0">
            <a:latin typeface="Candara" panose="020E0502030303020204" pitchFamily="34" charset="0"/>
          </a:endParaRPr>
        </a:p>
      </dsp:txBody>
      <dsp:txXfrm>
        <a:off x="0" y="955670"/>
        <a:ext cx="8442000" cy="1076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Cliquez pour déplacer la diapo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dt" idx="6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ftr" idx="6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sldNum" idx="6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A02C17-4D50-41CD-A8A9-F275C66FC81B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DFB674F-4F4E-498A-944B-EFA354B33BAE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ACC1FA-161C-4F41-8E48-6C204E463032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02832F-4CE7-49ED-A2E2-CEFCC56DF6C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F271A6-4B58-4989-A265-8BD715A87DAF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L’idée est de suivre l’évolution des risques tout au long du projet (Criticité, mesures préventives et correctives)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DACE771-B58F-4E60-ACB3-73FF69BB467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D1A035-D405-4D90-982A-0E3045BA007C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A7F9A66-0BD9-41DE-980A-EAAB936459A0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446800-7F20-45BD-BA1B-131D928460EE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0E6EC5-DAD9-4982-89BC-97D8A2D1CDB1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e de titr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2">
              <a:alphaModFix amt="45000"/>
            </a:blip>
            <a:srcRect/>
            <a:tile tx="2423520" ty="2262330" sx="100000" sy="100000" algn="tl"/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9"/>
          <p:cNvSpPr/>
          <p:nvPr/>
        </p:nvSpPr>
        <p:spPr>
          <a:xfrm>
            <a:off x="1307880" y="1267560"/>
            <a:ext cx="9576000" cy="43077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65000"/>
                <a:lumOff val="35000"/>
              </a:srgbClr>
            </a:solidFill>
            <a:round/>
          </a:ln>
          <a:effectLst>
            <a:outerShdw algn="ctr" blurRad="633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Rectangle 10"/>
          <p:cNvSpPr/>
          <p:nvPr/>
        </p:nvSpPr>
        <p:spPr>
          <a:xfrm>
            <a:off x="1447920" y="1411560"/>
            <a:ext cx="9295920" cy="4034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Rectangle 14"/>
          <p:cNvSpPr/>
          <p:nvPr/>
        </p:nvSpPr>
        <p:spPr>
          <a:xfrm>
            <a:off x="5135760" y="1267560"/>
            <a:ext cx="1919880" cy="7311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" blurRad="50760" dir="5400000" dist="1260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oupe 3"/>
          <p:cNvGrpSpPr/>
          <p:nvPr/>
        </p:nvGrpSpPr>
        <p:grpSpPr>
          <a:xfrm>
            <a:off x="5249880" y="1267560"/>
            <a:ext cx="1691640" cy="645120"/>
            <a:chOff x="5249880" y="1267560"/>
            <a:chExt cx="1691640" cy="645120"/>
          </a:xfrm>
        </p:grpSpPr>
        <p:cxnSp>
          <p:nvCxnSpPr>
            <p:cNvPr id="7" name="Connecteur droit 16"/>
            <p:cNvCxnSpPr/>
            <p:nvPr/>
          </p:nvCxnSpPr>
          <p:spPr>
            <a:xfrm>
              <a:off x="524988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8" name="Connecteur droit 17"/>
            <p:cNvCxnSpPr/>
            <p:nvPr/>
          </p:nvCxnSpPr>
          <p:spPr>
            <a:xfrm>
              <a:off x="694152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9" name="Connecteur droit 18"/>
            <p:cNvCxnSpPr/>
            <p:nvPr/>
          </p:nvCxnSpPr>
          <p:spPr>
            <a:xfrm>
              <a:off x="5249880" y="1912680"/>
              <a:ext cx="1692000" cy="36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</p:grp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61680" y="2091240"/>
            <a:ext cx="9068400" cy="2590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83000"/>
              </a:lnSpc>
              <a:buNone/>
            </a:pPr>
            <a:r>
              <a:rPr b="0" lang="fr-FR" sz="7200" spc="-99" strike="noStrike" u="none" cap="all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1"/>
          </p:nvPr>
        </p:nvSpPr>
        <p:spPr>
          <a:xfrm>
            <a:off x="5318640" y="1341360"/>
            <a:ext cx="1554120" cy="52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 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2"/>
          </p:nvPr>
        </p:nvSpPr>
        <p:spPr>
          <a:xfrm>
            <a:off x="1454040" y="5212080"/>
            <a:ext cx="590508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3"/>
          </p:nvPr>
        </p:nvSpPr>
        <p:spPr>
          <a:xfrm>
            <a:off x="8606880" y="5212080"/>
            <a:ext cx="211140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37EA1C3-1E73-430D-AD55-519EDFA8D8DD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6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-tête de sec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Rectangle 1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blipFill rotWithShape="0">
            <a:blip r:embed="rId2">
              <a:alphaModFix amt="40000"/>
            </a:blip>
            <a:srcRect/>
            <a:tile tx="2423520" ty="2262330" sx="100000" sy="100000" algn="tl"/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Rectangle 22"/>
          <p:cNvSpPr/>
          <p:nvPr/>
        </p:nvSpPr>
        <p:spPr>
          <a:xfrm>
            <a:off x="1307880" y="1267560"/>
            <a:ext cx="9576000" cy="430776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65000"/>
                <a:lumOff val="35000"/>
              </a:srgbClr>
            </a:solidFill>
            <a:round/>
          </a:ln>
          <a:effectLst>
            <a:outerShdw algn="ctr" blurRad="63360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Rectangle 23"/>
          <p:cNvSpPr/>
          <p:nvPr/>
        </p:nvSpPr>
        <p:spPr>
          <a:xfrm>
            <a:off x="1447920" y="1411560"/>
            <a:ext cx="9295920" cy="403452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Rectangle 29"/>
          <p:cNvSpPr/>
          <p:nvPr/>
        </p:nvSpPr>
        <p:spPr>
          <a:xfrm>
            <a:off x="5135760" y="1267560"/>
            <a:ext cx="1919880" cy="7311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algn="t" blurRad="50760" dir="5400000" dist="1260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1" name="Groupe 30"/>
          <p:cNvGrpSpPr/>
          <p:nvPr/>
        </p:nvGrpSpPr>
        <p:grpSpPr>
          <a:xfrm>
            <a:off x="5249880" y="1267560"/>
            <a:ext cx="1691640" cy="645120"/>
            <a:chOff x="5249880" y="1267560"/>
            <a:chExt cx="1691640" cy="645120"/>
          </a:xfrm>
        </p:grpSpPr>
        <p:cxnSp>
          <p:nvCxnSpPr>
            <p:cNvPr id="42" name="Connecteur droit 31"/>
            <p:cNvCxnSpPr/>
            <p:nvPr/>
          </p:nvCxnSpPr>
          <p:spPr>
            <a:xfrm>
              <a:off x="524988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43" name="Connecteur droit 32"/>
            <p:cNvCxnSpPr/>
            <p:nvPr/>
          </p:nvCxnSpPr>
          <p:spPr>
            <a:xfrm>
              <a:off x="6941520" y="1267560"/>
              <a:ext cx="360" cy="64044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  <p:cxnSp>
          <p:nvCxnSpPr>
            <p:cNvPr id="44" name="Connecteur droit 33"/>
            <p:cNvCxnSpPr/>
            <p:nvPr/>
          </p:nvCxnSpPr>
          <p:spPr>
            <a:xfrm>
              <a:off x="5249880" y="1912680"/>
              <a:ext cx="1692000" cy="360"/>
            </a:xfrm>
            <a:prstGeom prst="straightConnector1">
              <a:avLst/>
            </a:prstGeom>
            <a:ln>
              <a:solidFill>
                <a:srgbClr val="ffffff"/>
              </a:solidFill>
              <a:miter/>
            </a:ln>
          </p:spPr>
        </p:cxnSp>
      </p:grp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563480" y="2094480"/>
            <a:ext cx="9070560" cy="25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83000"/>
              </a:lnSpc>
              <a:buNone/>
            </a:pPr>
            <a:r>
              <a:rPr b="0" lang="fr-FR" sz="7200" spc="-99" strike="noStrike" u="none" cap="all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7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563480" y="4682160"/>
            <a:ext cx="90705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13"/>
          </p:nvPr>
        </p:nvSpPr>
        <p:spPr>
          <a:xfrm>
            <a:off x="5321880" y="1344600"/>
            <a:ext cx="1554120" cy="52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b="0" lang="fr-FR" sz="13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14"/>
          </p:nvPr>
        </p:nvSpPr>
        <p:spPr>
          <a:xfrm>
            <a:off x="1454040" y="5212080"/>
            <a:ext cx="590652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15"/>
          </p:nvPr>
        </p:nvSpPr>
        <p:spPr>
          <a:xfrm>
            <a:off x="8604360" y="5212080"/>
            <a:ext cx="2111760" cy="22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762EE9-97EA-4792-8203-274B33EE4515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re et texte vertica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8040" cy="39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6EE0D8-FEB1-4984-86B8-79554CC9B7F3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6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re vertical et tex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991720" y="762120"/>
            <a:ext cx="236196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762120"/>
            <a:ext cx="8076960" cy="5257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8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144355-9DBC-4B11-9683-39BDA05F6B83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6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re et conten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10058040" cy="393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0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 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1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2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6920C1-9656-4CE5-81D1-74ED23F852E2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6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ux contenu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066680" y="2103120"/>
            <a:ext cx="4754520" cy="374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370200" y="2103120"/>
            <a:ext cx="4754520" cy="374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16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17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18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67702B-EBAC-4390-B35B-036FC6C3359A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is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069920" y="207432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069920" y="2755800"/>
            <a:ext cx="475452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373440" y="2074320"/>
            <a:ext cx="4754520" cy="63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373440" y="2756520"/>
            <a:ext cx="4754520" cy="320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19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20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21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26597B-A87B-41CE-9A2A-632507B96F5E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uniquem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066680" y="642600"/>
            <a:ext cx="1005804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4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dt" idx="22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23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24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541FF0-B273-471B-A5F3-1C2120BFA798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6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7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dt" idx="25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ftr" idx="26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27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FDB37D-BACF-4EFE-98EA-BC3C4A65175A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 avec légen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3"/>
          <p:cNvSpPr/>
          <p:nvPr/>
        </p:nvSpPr>
        <p:spPr>
          <a:xfrm>
            <a:off x="234720" y="237600"/>
            <a:ext cx="863280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5"/>
          <p:cNvSpPr/>
          <p:nvPr/>
        </p:nvSpPr>
        <p:spPr>
          <a:xfrm>
            <a:off x="371880" y="374760"/>
            <a:ext cx="835272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14"/>
          <p:cNvSpPr/>
          <p:nvPr/>
        </p:nvSpPr>
        <p:spPr>
          <a:xfrm>
            <a:off x="9020520" y="237600"/>
            <a:ext cx="2925720" cy="6382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296280" y="607320"/>
            <a:ext cx="2430360" cy="16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2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90560" y="704880"/>
            <a:ext cx="7562520" cy="51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82880" indent="-182880" defTabSz="914400">
              <a:lnSpc>
                <a:spcPct val="100000"/>
              </a:lnSpc>
              <a:spcBef>
                <a:spcPts val="901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9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9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1" marL="45720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6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Deuxième niveau</a:t>
            </a:r>
            <a:endParaRPr b="0" lang="fr-FR" sz="16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2" marL="73152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Troisième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3" marL="100584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Quatrième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  <a:p>
            <a:pPr lvl="4" marL="1280160" indent="-182880" defTabSz="914400">
              <a:lnSpc>
                <a:spcPct val="100000"/>
              </a:lnSpc>
              <a:spcBef>
                <a:spcPts val="499"/>
              </a:spcBef>
              <a:buClr>
                <a:srgbClr val="eeebe3"/>
              </a:buClr>
              <a:buFont typeface="Arial"/>
              <a:buChar char="•"/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Cinquième niveau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9296280" y="2286000"/>
            <a:ext cx="2430360" cy="350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dk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28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29"/>
          </p:nvPr>
        </p:nvSpPr>
        <p:spPr>
          <a:xfrm>
            <a:off x="3439080" y="6214680"/>
            <a:ext cx="518436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30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6952AF-96E4-4F1F-B15A-DA9F765F3181}" type="slidenum">
              <a: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Rectangle 10"/>
          <p:cNvSpPr/>
          <p:nvPr/>
        </p:nvSpPr>
        <p:spPr>
          <a:xfrm>
            <a:off x="9157680" y="374760"/>
            <a:ext cx="2651400" cy="6107760"/>
          </a:xfrm>
          <a:prstGeom prst="rect">
            <a:avLst/>
          </a:prstGeom>
          <a:noFill/>
          <a:ln cap="sq" w="6350">
            <a:solidFill>
              <a:srgbClr val="ffffff">
                <a:lumMod val="65000"/>
                <a:lumOff val="35000"/>
              </a:srgbClr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avec légen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234720" y="237600"/>
            <a:ext cx="11722320" cy="6382080"/>
          </a:xfrm>
          <a:prstGeom prst="rect">
            <a:avLst/>
          </a:prstGeom>
          <a:solidFill>
            <a:schemeClr val="tx1"/>
          </a:solidFill>
          <a:ln w="6350">
            <a:solidFill>
              <a:srgbClr val="ffffff">
                <a:lumMod val="7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7" hidden="1"/>
          <p:cNvSpPr/>
          <p:nvPr/>
        </p:nvSpPr>
        <p:spPr>
          <a:xfrm>
            <a:off x="371880" y="374760"/>
            <a:ext cx="114480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 13"/>
          <p:cNvSpPr/>
          <p:nvPr/>
        </p:nvSpPr>
        <p:spPr>
          <a:xfrm>
            <a:off x="9020520" y="237600"/>
            <a:ext cx="2925720" cy="6382080"/>
          </a:xfrm>
          <a:prstGeom prst="rect">
            <a:avLst/>
          </a:prstGeom>
          <a:solidFill>
            <a:schemeClr val="tx1"/>
          </a:solidFill>
          <a:ln cap="sq" w="6350">
            <a:solidFill>
              <a:srgbClr val="ffffff">
                <a:lumMod val="75000"/>
              </a:srgbClr>
            </a:solidFill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8"/>
          <p:cNvSpPr/>
          <p:nvPr/>
        </p:nvSpPr>
        <p:spPr>
          <a:xfrm>
            <a:off x="9157680" y="374760"/>
            <a:ext cx="2651400" cy="610776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9296280" y="603360"/>
            <a:ext cx="2431800" cy="164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 style du titre</a:t>
            </a:r>
            <a:endParaRPr b="0" lang="fr-FR" sz="28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228600" y="237600"/>
            <a:ext cx="8600760" cy="6382080"/>
          </a:xfrm>
          <a:prstGeom prst="rect">
            <a:avLst/>
          </a:prstGeom>
          <a:solidFill>
            <a:srgbClr val="808080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Cliquez sur l’icône pour ajouter une image</a:t>
            </a:r>
            <a:endParaRPr b="0" lang="fr-FR" sz="32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9296280" y="2286000"/>
            <a:ext cx="2431800" cy="35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0" lang="fr-FR" sz="1400" strike="noStrike" u="none">
                <a:solidFill>
                  <a:schemeClr val="lt1"/>
                </a:solidFill>
                <a:effectLst/>
                <a:uFillTx/>
                <a:latin typeface="Century Gothic"/>
              </a:rPr>
              <a:t>Modifiez les styles du texte du masque</a:t>
            </a:r>
            <a:endParaRPr b="0" lang="fr-FR" sz="1400" strike="noStrike" u="none">
              <a:solidFill>
                <a:schemeClr val="lt1"/>
              </a:solidFill>
              <a:effectLst/>
              <a:uFillTx/>
              <a:latin typeface="Century Gothic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31"/>
          </p:nvPr>
        </p:nvSpPr>
        <p:spPr>
          <a:xfrm>
            <a:off x="389520" y="6214680"/>
            <a:ext cx="274284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000" strike="noStrike" u="none">
                <a:solidFill>
                  <a:schemeClr val="dk2"/>
                </a:solidFill>
                <a:effectLst/>
                <a:uFillTx/>
                <a:latin typeface="Century Gothic"/>
              </a:rPr>
              <a:t>&lt;date/heure&gt;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32"/>
          </p:nvPr>
        </p:nvSpPr>
        <p:spPr>
          <a:xfrm>
            <a:off x="3489840" y="6214680"/>
            <a:ext cx="521172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6"/>
          <p:cNvSpPr>
            <a:spLocks noGrp="1"/>
          </p:cNvSpPr>
          <p:nvPr>
            <p:ph type="sldNum" idx="33"/>
          </p:nvPr>
        </p:nvSpPr>
        <p:spPr>
          <a:xfrm>
            <a:off x="10348560" y="6214680"/>
            <a:ext cx="1462680" cy="2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04F520-9573-4E0C-B232-F0214D13FD8B}" type="slidenum">
              <a:rPr b="0" lang="fr-FR" sz="1000" strike="noStrike" u="none">
                <a:solidFill>
                  <a:schemeClr val="lt2"/>
                </a:solidFill>
                <a:effectLst/>
                <a:uFillTx/>
                <a:latin typeface="Century Gothic"/>
              </a:rPr>
              <a:t>&lt;numéro&gt;</a:t>
            </a:fld>
            <a:endParaRPr b="0" lang="fr-F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A4876A-5507-43EA-B62B-59B974994A7B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Standar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A60274-F93C-4508-82DD-B005016F8B30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Standar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194C53-994E-491A-BECA-4AC191B2A389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7DCD74-B864-41E2-8FAF-6738DA142645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 de 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0192D8-98BF-442D-A47C-A7107A08AE97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tandard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166EB1-4CFF-4BA5-A4F3-707622BAC170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8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991A38-9C78-40E3-B6BB-4AD6C1495B7D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re seu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4C903E-9DDB-4940-A1BB-21A603FB6992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455555-59A2-427C-AE7F-8F61CF41F201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Deuxième niveau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8C620C-5B6E-4E63-B436-0A4DE4936C8C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Modifiez le style du titre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Modifier les styles du texte du masque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B5BABF-5450-4888-AFF4-7CF27218D446}" type="slidenum">
              <a:rPr b="0" lang="fr-FR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5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ZoneTexte 3"/>
          <p:cNvSpPr/>
          <p:nvPr/>
        </p:nvSpPr>
        <p:spPr>
          <a:xfrm>
            <a:off x="3252240" y="2110680"/>
            <a:ext cx="545148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fr-FR" sz="40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Réunion du comité de pilotage</a:t>
            </a:r>
            <a:endParaRPr b="0" lang="fr-F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fr-FR" sz="32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Beemo</a:t>
            </a:r>
            <a:endParaRPr b="0" lang="fr-F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6"/>
          <p:cNvSpPr/>
          <p:nvPr/>
        </p:nvSpPr>
        <p:spPr>
          <a:xfrm>
            <a:off x="5252760" y="4581360"/>
            <a:ext cx="16718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fr-FR" sz="20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Le 29/08/2025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9"/>
          <p:cNvSpPr/>
          <p:nvPr/>
        </p:nvSpPr>
        <p:spPr>
          <a:xfrm>
            <a:off x="0" y="-2592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506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Ordre du jour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archemin vertical 3"/>
          <p:cNvSpPr/>
          <p:nvPr/>
        </p:nvSpPr>
        <p:spPr>
          <a:xfrm>
            <a:off x="2519280" y="1481760"/>
            <a:ext cx="7152840" cy="4362120"/>
          </a:xfrm>
          <a:prstGeom prst="verticalScroll">
            <a:avLst>
              <a:gd name="adj" fmla="val 125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Vue d’ensemble sur l’avancement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Vue d’ensemble sur la performance de projet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du budget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du planning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Revue des risques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002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Evolution des KPIs de projet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Décisions à prendre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Questions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buClr>
                <a:srgbClr val="129e00"/>
              </a:buClr>
              <a:buFont typeface="Arial"/>
              <a:buChar char="•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Prochaines réunions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Revue du Budget simplifiée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71" name="Graphique 5"/>
          <p:cNvGraphicFramePr/>
          <p:nvPr/>
        </p:nvGraphicFramePr>
        <p:xfrm>
          <a:off x="1645560" y="873720"/>
          <a:ext cx="8127720" cy="504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Analyse de la valeur acquise ½ *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ZoneTexte 6"/>
          <p:cNvSpPr/>
          <p:nvPr/>
        </p:nvSpPr>
        <p:spPr>
          <a:xfrm>
            <a:off x="1085760" y="6187320"/>
            <a:ext cx="5165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Cf ‘’Rapport de suivi du budget’’ pour plus de détails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Image 5" descr=""/>
          <p:cNvPicPr/>
          <p:nvPr/>
        </p:nvPicPr>
        <p:blipFill>
          <a:blip r:embed="rId1"/>
          <a:stretch/>
        </p:blipFill>
        <p:spPr>
          <a:xfrm>
            <a:off x="0" y="1884960"/>
            <a:ext cx="12191760" cy="308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Performance de projet : Analyse de la valeur acquise 2/2 *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ZoneTexte 6"/>
          <p:cNvSpPr/>
          <p:nvPr/>
        </p:nvSpPr>
        <p:spPr>
          <a:xfrm>
            <a:off x="819720" y="6469560"/>
            <a:ext cx="61052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Cf ‘’Rapport de suivi du budget’’ pour plus de détails 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Image 5" descr=""/>
          <p:cNvPicPr/>
          <p:nvPr/>
        </p:nvPicPr>
        <p:blipFill>
          <a:blip r:embed="rId1"/>
          <a:stretch/>
        </p:blipFill>
        <p:spPr>
          <a:xfrm>
            <a:off x="3044880" y="1981080"/>
            <a:ext cx="7295760" cy="289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ZoneTexte 2"/>
          <p:cNvSpPr/>
          <p:nvPr/>
        </p:nvSpPr>
        <p:spPr>
          <a:xfrm>
            <a:off x="963360" y="6046560"/>
            <a:ext cx="655632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*cf ‘’</a:t>
            </a:r>
            <a:r>
              <a:rPr b="0" lang="fr-BE" sz="16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Registre des risques’’ pour plus de détails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Revue des risques du projet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3" name="Image 4" descr=""/>
          <p:cNvPicPr/>
          <p:nvPr/>
        </p:nvPicPr>
        <p:blipFill>
          <a:blip r:embed="rId1"/>
          <a:stretch/>
        </p:blipFill>
        <p:spPr>
          <a:xfrm>
            <a:off x="871560" y="1000080"/>
            <a:ext cx="10448640" cy="485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" name="Tableau 8"/>
          <p:cNvGraphicFramePr/>
          <p:nvPr/>
        </p:nvGraphicFramePr>
        <p:xfrm>
          <a:off x="681480" y="1239120"/>
          <a:ext cx="11135160" cy="2928600"/>
        </p:xfrm>
        <a:graphic>
          <a:graphicData uri="http://schemas.openxmlformats.org/drawingml/2006/table">
            <a:tbl>
              <a:tblPr/>
              <a:tblGrid>
                <a:gridCol w="2863440"/>
                <a:gridCol w="1594440"/>
                <a:gridCol w="2573280"/>
                <a:gridCol w="1492920"/>
                <a:gridCol w="2610360"/>
              </a:tblGrid>
              <a:tr h="551880"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KPI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Cible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Etat actuel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Tendance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fr-FR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Commentaire</a:t>
                      </a:r>
                      <a:endParaRPr b="0" lang="fr-F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914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Budget planifié du projet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288 K euros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Non satisfaisant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 (Réel supérieur à la valeur Planifié)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Amélioration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7200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Bien que les matériaux on été acheté plus chère nous maintenons le budget prévu par la suite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20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1264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Retour sur investissement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an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Amélioration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 bonne voie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69408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Satisfaction clients internes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90%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Amélioration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Confiance grandissante dans les avantages du projet après les tests communs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  <a:tr h="578160">
                <a:tc>
                  <a:txBody>
                    <a:bodyPr lIns="68400" rIns="68400" tIns="0" bIns="0" anchor="t">
                      <a:noAutofit/>
                    </a:bodyPr>
                    <a:p>
                      <a:pPr defTabSz="914400">
                        <a:lnSpc>
                          <a:spcPct val="250000"/>
                        </a:lnSpc>
                      </a:pPr>
                      <a:r>
                        <a:rPr b="1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Satisfaction clients externes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68400" rIns="68400" tIns="0" bIns="0" anchor="t">
                      <a:noAutofit/>
                    </a:bodyPr>
                    <a:p>
                      <a:pPr algn="ctr" defTabSz="914400">
                        <a:lnSpc>
                          <a:spcPct val="25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90%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8400" marR="68400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Satisfaisant 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(Projet dans les délais)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Amélioration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  <a:tc>
                  <a:txBody>
                    <a:bodyPr lIns="0" rIns="0" tIns="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fr-FR" sz="13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Cout on été monitoré plus rigoureusement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70ad47"/>
                      </a:solidFill>
                      <a:prstDash val="solid"/>
                    </a:lnL>
                    <a:lnR w="12240">
                      <a:solidFill>
                        <a:srgbClr val="70ad47"/>
                      </a:solidFill>
                      <a:prstDash val="solid"/>
                    </a:lnR>
                    <a:lnT w="12240">
                      <a:solidFill>
                        <a:srgbClr val="70ad47"/>
                      </a:solidFill>
                      <a:prstDash val="solid"/>
                    </a:lnT>
                    <a:lnB w="12240">
                      <a:solidFill>
                        <a:srgbClr val="70ad47"/>
                      </a:solidFill>
                      <a:prstDash val="solid"/>
                    </a:lnB>
                    <a:solidFill>
                      <a:schemeClr val="accent6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85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Evolution des KPIs du projet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/>
          </p:nvPr>
        </p:nvSpPr>
        <p:spPr>
          <a:xfrm>
            <a:off x="674640" y="1575720"/>
            <a:ext cx="10679040" cy="3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Points en suspens et les décisions à prendre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Rectangle 10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Décisions à prendre / Arbitrage à faire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025869757"/>
              </p:ext>
            </p:extLst>
          </p:nvPr>
        </p:nvGraphicFramePr>
        <p:xfrm>
          <a:off x="1073160" y="2208240"/>
          <a:ext cx="8441640" cy="206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Questions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2" name="Picture 2" descr="Questionnement Png Transparent Images – Free PNG Images Vector, PSD,  Clipart, Templates"/>
          <p:cNvPicPr/>
          <p:nvPr/>
        </p:nvPicPr>
        <p:blipFill>
          <a:blip r:embed="rId1"/>
          <a:stretch/>
        </p:blipFill>
        <p:spPr>
          <a:xfrm>
            <a:off x="1915200" y="2553480"/>
            <a:ext cx="2101320" cy="164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ZoneTexte 1"/>
          <p:cNvSpPr/>
          <p:nvPr/>
        </p:nvSpPr>
        <p:spPr>
          <a:xfrm>
            <a:off x="4632480" y="2914920"/>
            <a:ext cx="64350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L’équipe projet se fera un plaisir de répondre à toutes les questions, remarques et suggestions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/>
          </p:nvPr>
        </p:nvSpPr>
        <p:spPr>
          <a:xfrm>
            <a:off x="983880" y="2090160"/>
            <a:ext cx="6443280" cy="1567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Prochaines réunions du comité de pilotage: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29e00"/>
              </a:buClr>
              <a:buFont typeface="Arial"/>
              <a:buChar char="•"/>
              <a:tabLst>
                <a:tab algn="l" pos="0"/>
              </a:tabLst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ndara"/>
              </a:rPr>
              <a:t>Le 10/09/2025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11"/>
          <p:cNvSpPr/>
          <p:nvPr/>
        </p:nvSpPr>
        <p:spPr>
          <a:xfrm>
            <a:off x="0" y="0"/>
            <a:ext cx="12216600" cy="898920"/>
          </a:xfrm>
          <a:prstGeom prst="rect">
            <a:avLst/>
          </a:prstGeom>
          <a:solidFill>
            <a:srgbClr val="62bd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title"/>
          </p:nvPr>
        </p:nvSpPr>
        <p:spPr>
          <a:xfrm>
            <a:off x="434880" y="198000"/>
            <a:ext cx="11263320" cy="4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fr-FR" sz="2800" strike="noStrike" u="none">
                <a:solidFill>
                  <a:schemeClr val="lt1"/>
                </a:solidFill>
                <a:effectLst/>
                <a:uFillTx/>
                <a:latin typeface="Candara"/>
              </a:rPr>
              <a:t>Prochaines réunions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.jpeg"/>
</Relationships>
</file>

<file path=ppt/theme/theme1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0000"/>
                <a:lumMod val="105000"/>
              </a:schemeClr>
            </a:gs>
            <a:gs pos="100000">
              <a:schemeClr val="phClr">
                <a:tint val="65000"/>
                <a:lumMod val="100000"/>
              </a:schemeClr>
            </a:gs>
            <a:gs pos="100000">
              <a:schemeClr val="phClr">
                <a:tint val="70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0000"/>
              </a:schemeClr>
            </a:gs>
            <a:gs pos="50000">
              <a:schemeClr val="phClr">
                <a:shade val="99000"/>
                <a:lumMod val="100000"/>
              </a:schemeClr>
            </a:gs>
            <a:gs pos="100000">
              <a:schemeClr val="phClr">
                <a:shade val="98000"/>
                <a:lumMod val="100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  <a:shade val="100000"/>
              </a:schemeClr>
            </a:gs>
            <a:gs pos="100000">
              <a:schemeClr val="phClr">
                <a:tint val="100000"/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  <a:blipFill rotWithShape="1">
          <a:blip r:embed="rId1"/>
          <a:srcRect l="0" t="0" r="0" b="0"/>
          <a:tile tx="0" ty="0" sx="60000" sy="60000" flip="none" algn="tl"/>
        </a:blip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Conception de savon jardin</Template>
  <TotalTime>0</TotalTime>
  <Application>LibreOffice/25.2.5.2$Windows_X86_64 LibreOffice_project/03d19516eb2e1dd5d4ccd751a0d6f35f35e08022</Application>
  <AppVersion>15.0000</AppVersion>
  <Words>442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2021-04-13T17:12:54Z</dcterms:created>
  <dc:creator/>
  <dc:description/>
  <dc:language>fr-FR</dc:language>
  <cp:lastModifiedBy/>
  <dcterms:modified xsi:type="dcterms:W3CDTF">2025-09-24T12:54:28Z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Notes">
    <vt:i4>10</vt:i4>
  </property>
  <property fmtid="{D5CDD505-2E9C-101B-9397-08002B2CF9AE}" pid="4" name="PresentationFormat">
    <vt:lpwstr>Grand écran</vt:lpwstr>
  </property>
  <property fmtid="{D5CDD505-2E9C-101B-9397-08002B2CF9AE}" pid="5" name="Slides">
    <vt:i4>11</vt:i4>
  </property>
</Properties>
</file>